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78" r:id="rId1"/>
  </p:sldMasterIdLst>
  <p:notesMasterIdLst>
    <p:notesMasterId r:id="rId13"/>
  </p:notesMasterIdLst>
  <p:sldIdLst>
    <p:sldId id="279" r:id="rId2"/>
    <p:sldId id="280" r:id="rId3"/>
    <p:sldId id="281" r:id="rId4"/>
    <p:sldId id="282" r:id="rId5"/>
    <p:sldId id="278" r:id="rId6"/>
    <p:sldId id="283" r:id="rId7"/>
    <p:sldId id="284" r:id="rId8"/>
    <p:sldId id="285" r:id="rId9"/>
    <p:sldId id="286" r:id="rId10"/>
    <p:sldId id="287" r:id="rId11"/>
    <p:sldId id="28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extLst>
      <p:ext uri="{BB962C8B-B14F-4D97-AF65-F5344CB8AC3E}">
        <p14:creationId xmlns:p14="http://schemas.microsoft.com/office/powerpoint/2010/main" val="2577995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66007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1328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20636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972720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043582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81139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597416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808230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696678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1194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Replace the contact details and use this slide during questions. An optional paper, project or code link can be added if appropriate. Remove unused placeholders. Keep backup slides after this slide if they help answer questions.</a:t>
            </a:r>
          </a:p>
          <a:p>
            <a:endParaRPr/>
          </a:p>
          <a:p>
            <a:r>
              <a:t>Branding sources: official COMPAS 2026 logo and University of Dhaka crest downloaded unchanged from https://www.compasconf.org/ on 2 October 2026. IEEE Computer Society Bangladesh Chapter logo extracted unchanged from the user-supplied COMPAS2025_Oral_Presentation_Template.pptx.</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06864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74E0F-E866-9565-A6AD-6357DD0041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AA35D6F-18E4-A6F7-00E1-A6A04CE4C7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E84274-239B-F750-8803-1A3FAF7178C7}"/>
              </a:ext>
            </a:extLst>
          </p:cNvPr>
          <p:cNvSpPr>
            <a:spLocks noGrp="1"/>
          </p:cNvSpPr>
          <p:nvPr>
            <p:ph type="dt" sz="half" idx="10"/>
          </p:nvPr>
        </p:nvSpPr>
        <p:spPr/>
        <p:txBody>
          <a:bodyPr/>
          <a:lstStyle/>
          <a:p>
            <a:fld id="{4AAD347D-5ACD-4C99-B74B-A9C85AD731AF}" type="datetimeFigureOut">
              <a:rPr lang="en-US" smtClean="0"/>
              <a:t>10/15/2026</a:t>
            </a:fld>
            <a:endParaRPr lang="en-US" dirty="0"/>
          </a:p>
        </p:txBody>
      </p:sp>
      <p:sp>
        <p:nvSpPr>
          <p:cNvPr id="5" name="Footer Placeholder 4">
            <a:extLst>
              <a:ext uri="{FF2B5EF4-FFF2-40B4-BE49-F238E27FC236}">
                <a16:creationId xmlns:a16="http://schemas.microsoft.com/office/drawing/2014/main" id="{81BD0DB8-EDB6-0349-CD73-7B3A1DFDEA7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263C118-F6EF-143B-61E6-9B044D5B86F8}"/>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036962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87DFD-E8EB-B271-87EC-FB7C3108B9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F68554-7478-1655-F889-3C41E69DCE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29F328-4D91-4827-A38F-D3F56F9BAD4C}"/>
              </a:ext>
            </a:extLst>
          </p:cNvPr>
          <p:cNvSpPr>
            <a:spLocks noGrp="1"/>
          </p:cNvSpPr>
          <p:nvPr>
            <p:ph type="dt" sz="half" idx="10"/>
          </p:nvPr>
        </p:nvSpPr>
        <p:spPr/>
        <p:txBody>
          <a:bodyPr/>
          <a:lstStyle/>
          <a:p>
            <a:fld id="{4AAD347D-5ACD-4C99-B74B-A9C85AD731AF}" type="datetimeFigureOut">
              <a:rPr lang="en-US" smtClean="0"/>
              <a:t>10/15/2026</a:t>
            </a:fld>
            <a:endParaRPr lang="en-US" dirty="0"/>
          </a:p>
        </p:txBody>
      </p:sp>
      <p:sp>
        <p:nvSpPr>
          <p:cNvPr id="5" name="Footer Placeholder 4">
            <a:extLst>
              <a:ext uri="{FF2B5EF4-FFF2-40B4-BE49-F238E27FC236}">
                <a16:creationId xmlns:a16="http://schemas.microsoft.com/office/drawing/2014/main" id="{DA07F505-CA51-D2CF-B434-514B2C8B6E4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67E5DAE-2631-C869-350F-76C7BA55220F}"/>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2809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CF907-7DB7-C302-F9BF-93A5A17E70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662999-D933-9430-935B-786321732D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32B3BE-DF5C-A1BE-E889-92550D5FFEC9}"/>
              </a:ext>
            </a:extLst>
          </p:cNvPr>
          <p:cNvSpPr>
            <a:spLocks noGrp="1"/>
          </p:cNvSpPr>
          <p:nvPr>
            <p:ph type="dt" sz="half" idx="10"/>
          </p:nvPr>
        </p:nvSpPr>
        <p:spPr/>
        <p:txBody>
          <a:bodyPr/>
          <a:lstStyle/>
          <a:p>
            <a:fld id="{4AAD347D-5ACD-4C99-B74B-A9C85AD731AF}" type="datetimeFigureOut">
              <a:rPr lang="en-US" smtClean="0"/>
              <a:t>10/15/2026</a:t>
            </a:fld>
            <a:endParaRPr lang="en-US" dirty="0"/>
          </a:p>
        </p:txBody>
      </p:sp>
      <p:sp>
        <p:nvSpPr>
          <p:cNvPr id="5" name="Footer Placeholder 4">
            <a:extLst>
              <a:ext uri="{FF2B5EF4-FFF2-40B4-BE49-F238E27FC236}">
                <a16:creationId xmlns:a16="http://schemas.microsoft.com/office/drawing/2014/main" id="{AE9C6CD8-81E2-5A0E-3107-80292C1FE08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32D0652-F035-3190-B44E-1433D0592618}"/>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377746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C1D63-8C60-E9AA-3543-F8E19D8EA1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2DA327-6C2E-038B-6A68-FB42ED092C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F4DE8EB-75B5-5459-95AA-2ED2DD51C9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883A16-F1D1-FBBD-9010-52B78EBE231B}"/>
              </a:ext>
            </a:extLst>
          </p:cNvPr>
          <p:cNvSpPr>
            <a:spLocks noGrp="1"/>
          </p:cNvSpPr>
          <p:nvPr>
            <p:ph type="dt" sz="half" idx="10"/>
          </p:nvPr>
        </p:nvSpPr>
        <p:spPr/>
        <p:txBody>
          <a:bodyPr/>
          <a:lstStyle/>
          <a:p>
            <a:fld id="{4AAD347D-5ACD-4C99-B74B-A9C85AD731AF}" type="datetimeFigureOut">
              <a:rPr lang="en-US" smtClean="0"/>
              <a:t>10/15/2026</a:t>
            </a:fld>
            <a:endParaRPr lang="en-US" dirty="0"/>
          </a:p>
        </p:txBody>
      </p:sp>
      <p:sp>
        <p:nvSpPr>
          <p:cNvPr id="6" name="Footer Placeholder 5">
            <a:extLst>
              <a:ext uri="{FF2B5EF4-FFF2-40B4-BE49-F238E27FC236}">
                <a16:creationId xmlns:a16="http://schemas.microsoft.com/office/drawing/2014/main" id="{B682FB02-F41F-C068-3542-9B577BEFE6A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5417FC2-54F8-9ECF-0EE5-67551FE90F89}"/>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61457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DEB2A-91B5-B03B-4954-1937D53452C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CA0F29-57A4-E5B7-D63A-CFC09981B7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5D1542-253D-3102-C69C-95788BEA31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9C102E-DD47-DDBC-B456-9D53D62A0D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98D1F1-3914-48FE-206C-649D51D04D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017CE25-D2F1-1A19-B71E-316D30B2AC4C}"/>
              </a:ext>
            </a:extLst>
          </p:cNvPr>
          <p:cNvSpPr>
            <a:spLocks noGrp="1"/>
          </p:cNvSpPr>
          <p:nvPr>
            <p:ph type="dt" sz="half" idx="10"/>
          </p:nvPr>
        </p:nvSpPr>
        <p:spPr/>
        <p:txBody>
          <a:bodyPr/>
          <a:lstStyle/>
          <a:p>
            <a:fld id="{4AAD347D-5ACD-4C99-B74B-A9C85AD731AF}" type="datetimeFigureOut">
              <a:rPr lang="en-US" smtClean="0"/>
              <a:t>10/15/2026</a:t>
            </a:fld>
            <a:endParaRPr lang="en-US" dirty="0"/>
          </a:p>
        </p:txBody>
      </p:sp>
      <p:sp>
        <p:nvSpPr>
          <p:cNvPr id="8" name="Footer Placeholder 7">
            <a:extLst>
              <a:ext uri="{FF2B5EF4-FFF2-40B4-BE49-F238E27FC236}">
                <a16:creationId xmlns:a16="http://schemas.microsoft.com/office/drawing/2014/main" id="{A93B22AD-D1A8-3A28-6C71-EA7FD31C499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60609342-8374-FD37-A51A-D78A6956096F}"/>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410483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A8074-7D5B-F1DB-F027-733B19F542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1ACF048-9860-EEE0-BE83-EBB40D54219D}"/>
              </a:ext>
            </a:extLst>
          </p:cNvPr>
          <p:cNvSpPr>
            <a:spLocks noGrp="1"/>
          </p:cNvSpPr>
          <p:nvPr>
            <p:ph type="dt" sz="half" idx="10"/>
          </p:nvPr>
        </p:nvSpPr>
        <p:spPr/>
        <p:txBody>
          <a:bodyPr/>
          <a:lstStyle/>
          <a:p>
            <a:fld id="{4509A250-FF31-4206-8172-F9D3106AACB1}" type="datetimeFigureOut">
              <a:rPr lang="en-US" smtClean="0"/>
              <a:t>10/15/2026</a:t>
            </a:fld>
            <a:endParaRPr lang="en-US" dirty="0"/>
          </a:p>
        </p:txBody>
      </p:sp>
      <p:sp>
        <p:nvSpPr>
          <p:cNvPr id="4" name="Footer Placeholder 3">
            <a:extLst>
              <a:ext uri="{FF2B5EF4-FFF2-40B4-BE49-F238E27FC236}">
                <a16:creationId xmlns:a16="http://schemas.microsoft.com/office/drawing/2014/main" id="{4F3E5F26-89CD-31EA-E280-BE7B5F34F7B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9AE5A11-D10D-3C5B-2D37-2B9348BD0737}"/>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321077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43B1E0-1637-EF18-C7DA-0DA8BD0C16F6}"/>
              </a:ext>
            </a:extLst>
          </p:cNvPr>
          <p:cNvSpPr>
            <a:spLocks noGrp="1"/>
          </p:cNvSpPr>
          <p:nvPr>
            <p:ph type="dt" sz="half" idx="10"/>
          </p:nvPr>
        </p:nvSpPr>
        <p:spPr/>
        <p:txBody>
          <a:bodyPr/>
          <a:lstStyle/>
          <a:p>
            <a:fld id="{4AAD347D-5ACD-4C99-B74B-A9C85AD731AF}" type="datetimeFigureOut">
              <a:rPr lang="en-US" smtClean="0"/>
              <a:t>10/15/2026</a:t>
            </a:fld>
            <a:endParaRPr lang="en-US" dirty="0"/>
          </a:p>
        </p:txBody>
      </p:sp>
      <p:sp>
        <p:nvSpPr>
          <p:cNvPr id="3" name="Footer Placeholder 2">
            <a:extLst>
              <a:ext uri="{FF2B5EF4-FFF2-40B4-BE49-F238E27FC236}">
                <a16:creationId xmlns:a16="http://schemas.microsoft.com/office/drawing/2014/main" id="{E78692D5-7068-ACCF-9942-88E512E44A7D}"/>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12C78A5-834E-5D05-30FC-1885AE3EFE67}"/>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674333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D2D77-775F-AD86-C901-CEA34C9294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FA6A013-1E45-A757-ECD1-EB328F2768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9696E0D-109F-6FB3-4F21-74209758EB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E2BD1D-7821-2146-B66C-411A2EBBB96C}"/>
              </a:ext>
            </a:extLst>
          </p:cNvPr>
          <p:cNvSpPr>
            <a:spLocks noGrp="1"/>
          </p:cNvSpPr>
          <p:nvPr>
            <p:ph type="dt" sz="half" idx="10"/>
          </p:nvPr>
        </p:nvSpPr>
        <p:spPr/>
        <p:txBody>
          <a:bodyPr/>
          <a:lstStyle/>
          <a:p>
            <a:fld id="{4AAD347D-5ACD-4C99-B74B-A9C85AD731AF}" type="datetimeFigureOut">
              <a:rPr lang="en-US" smtClean="0"/>
              <a:t>10/15/2026</a:t>
            </a:fld>
            <a:endParaRPr lang="en-US" dirty="0"/>
          </a:p>
        </p:txBody>
      </p:sp>
      <p:sp>
        <p:nvSpPr>
          <p:cNvPr id="6" name="Footer Placeholder 5">
            <a:extLst>
              <a:ext uri="{FF2B5EF4-FFF2-40B4-BE49-F238E27FC236}">
                <a16:creationId xmlns:a16="http://schemas.microsoft.com/office/drawing/2014/main" id="{608540F5-5CC2-FC6D-2412-929FE08F860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D4034DB-8203-D950-B4E4-7EF807FEE2CE}"/>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479496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0D8FE-A140-9294-984C-8DA2A39F90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4BFE9AB-A401-BEF7-6F69-35AE5FC121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E5E513D-DCAF-7E50-F898-589F4C9BD3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B1FB92-A7A4-0DCD-55BC-D719C68EC49F}"/>
              </a:ext>
            </a:extLst>
          </p:cNvPr>
          <p:cNvSpPr>
            <a:spLocks noGrp="1"/>
          </p:cNvSpPr>
          <p:nvPr>
            <p:ph type="dt" sz="half" idx="10"/>
          </p:nvPr>
        </p:nvSpPr>
        <p:spPr/>
        <p:txBody>
          <a:bodyPr/>
          <a:lstStyle/>
          <a:p>
            <a:fld id="{4AAD347D-5ACD-4C99-B74B-A9C85AD731AF}" type="datetimeFigureOut">
              <a:rPr lang="en-US" smtClean="0"/>
              <a:t>10/15/2026</a:t>
            </a:fld>
            <a:endParaRPr lang="en-US" dirty="0"/>
          </a:p>
        </p:txBody>
      </p:sp>
      <p:sp>
        <p:nvSpPr>
          <p:cNvPr id="6" name="Footer Placeholder 5">
            <a:extLst>
              <a:ext uri="{FF2B5EF4-FFF2-40B4-BE49-F238E27FC236}">
                <a16:creationId xmlns:a16="http://schemas.microsoft.com/office/drawing/2014/main" id="{064D05A2-4EB5-07EA-19DD-6AD3B17BE09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8567612-3166-0C09-5624-136EFCA9620E}"/>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292414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D7A7D-F278-B5F2-D5FD-E9B05D42C4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17A8E9-BC70-8C54-1888-1149BB665E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5DA61A-2001-9E0D-60EF-FE5417FFB5D3}"/>
              </a:ext>
            </a:extLst>
          </p:cNvPr>
          <p:cNvSpPr>
            <a:spLocks noGrp="1"/>
          </p:cNvSpPr>
          <p:nvPr>
            <p:ph type="dt" sz="half" idx="10"/>
          </p:nvPr>
        </p:nvSpPr>
        <p:spPr/>
        <p:txBody>
          <a:bodyPr/>
          <a:lstStyle/>
          <a:p>
            <a:fld id="{4AAD347D-5ACD-4C99-B74B-A9C85AD731AF}" type="datetimeFigureOut">
              <a:rPr lang="en-US" smtClean="0"/>
              <a:t>10/15/2026</a:t>
            </a:fld>
            <a:endParaRPr lang="en-US" dirty="0"/>
          </a:p>
        </p:txBody>
      </p:sp>
      <p:sp>
        <p:nvSpPr>
          <p:cNvPr id="5" name="Footer Placeholder 4">
            <a:extLst>
              <a:ext uri="{FF2B5EF4-FFF2-40B4-BE49-F238E27FC236}">
                <a16:creationId xmlns:a16="http://schemas.microsoft.com/office/drawing/2014/main" id="{8142BD67-3E63-E443-2008-389BD221FEB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1A04562-2E60-D225-6ACB-40D77575BA85}"/>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17751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38932F-BBA7-A635-BEDF-142AE5D8A6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E3C8A1-32F1-2622-A709-A790BC732C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CC71F6-C303-D9E6-7E3E-99DF30ABF462}"/>
              </a:ext>
            </a:extLst>
          </p:cNvPr>
          <p:cNvSpPr>
            <a:spLocks noGrp="1"/>
          </p:cNvSpPr>
          <p:nvPr>
            <p:ph type="dt" sz="half" idx="10"/>
          </p:nvPr>
        </p:nvSpPr>
        <p:spPr/>
        <p:txBody>
          <a:bodyPr/>
          <a:lstStyle/>
          <a:p>
            <a:fld id="{4AAD347D-5ACD-4C99-B74B-A9C85AD731AF}" type="datetimeFigureOut">
              <a:rPr lang="en-US" smtClean="0"/>
              <a:t>10/15/2026</a:t>
            </a:fld>
            <a:endParaRPr lang="en-US" dirty="0"/>
          </a:p>
        </p:txBody>
      </p:sp>
      <p:sp>
        <p:nvSpPr>
          <p:cNvPr id="5" name="Footer Placeholder 4">
            <a:extLst>
              <a:ext uri="{FF2B5EF4-FFF2-40B4-BE49-F238E27FC236}">
                <a16:creationId xmlns:a16="http://schemas.microsoft.com/office/drawing/2014/main" id="{97C6DE9D-0F81-1A66-E813-017FF171B6F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9CC1062-B4E1-17FC-9480-A333724FFAEB}"/>
              </a:ext>
            </a:extLst>
          </p:cNvPr>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194311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14DF91-40E0-2801-63EE-E791B85A3F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790784-B779-1F46-B5D1-89A84646A6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D79386-4B93-7524-B541-1D5FFC643C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AD347D-5ACD-4C99-B74B-A9C85AD731AF}" type="datetimeFigureOut">
              <a:rPr lang="en-US" smtClean="0"/>
              <a:t>10/15/2026</a:t>
            </a:fld>
            <a:endParaRPr lang="en-US" dirty="0"/>
          </a:p>
        </p:txBody>
      </p:sp>
      <p:sp>
        <p:nvSpPr>
          <p:cNvPr id="5" name="Footer Placeholder 4">
            <a:extLst>
              <a:ext uri="{FF2B5EF4-FFF2-40B4-BE49-F238E27FC236}">
                <a16:creationId xmlns:a16="http://schemas.microsoft.com/office/drawing/2014/main" id="{0288D281-56E6-68D2-33BC-0D31942C06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4A0CEB7D-C4AE-8ACC-F4AB-2AA6D6DCB0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439242037"/>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0.m4a"/><Relationship Id="rId1" Type="http://schemas.microsoft.com/office/2007/relationships/media" Target="../media/media10.m4a"/><Relationship Id="rId5"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2.png"/><Relationship Id="rId5" Type="http://schemas.openxmlformats.org/officeDocument/2006/relationships/hyperlink" Target="mailto:it22002@mbstu.ac.bd" TargetMode="Externa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COMPAS 2026">
            <a:extLst>
              <a:ext uri="{FF2B5EF4-FFF2-40B4-BE49-F238E27FC236}">
                <a16:creationId xmlns:a16="http://schemas.microsoft.com/office/drawing/2014/main" id="{C23EE761-CA56-48B7-3A71-07A1EBA17661}"/>
              </a:ext>
            </a:extLst>
          </p:cNvPr>
          <p:cNvSpPr>
            <a:spLocks noGrp="1"/>
          </p:cNvSpPr>
          <p:nvPr/>
        </p:nvSpPr>
        <p:spPr>
          <a:xfrm>
            <a:off x="2400300" y="466725"/>
            <a:ext cx="6286500" cy="476250"/>
          </a:xfrm>
          <a:prstGeom prst="rect">
            <a:avLst/>
          </a:prstGeom>
          <a:noFill/>
          <a:ln w="0">
            <a:noFill/>
          </a:ln>
        </p:spPr>
        <p:txBody>
          <a:bodyPr wrap="square" lIns="0" tIns="0" rIns="0" bIns="0" anchor="t">
            <a:noAutofit/>
          </a:bodyPr>
          <a:lstStyle/>
          <a:p>
            <a:pPr>
              <a:defRPr sz="2450" b="1">
                <a:solidFill>
                  <a:srgbClr val="0067A6"/>
                </a:solidFill>
                <a:latin typeface="Calibri"/>
                <a:ea typeface="Calibri"/>
                <a:cs typeface="Calibri"/>
              </a:defRPr>
            </a:pPr>
            <a:endParaRPr sz="2800" b="1" dirty="0">
              <a:solidFill>
                <a:srgbClr val="0067A6"/>
              </a:solidFill>
              <a:latin typeface="Calibri"/>
              <a:ea typeface="Calibri"/>
              <a:cs typeface="Calibri"/>
            </a:endParaRPr>
          </a:p>
        </p:txBody>
      </p:sp>
      <p:sp>
        <p:nvSpPr>
          <p:cNvPr id="11" name="IEEE 3rd International Conference on&#10;Computing, Applications and ">
            <a:extLst>
              <a:ext uri="{FF2B5EF4-FFF2-40B4-BE49-F238E27FC236}">
                <a16:creationId xmlns:a16="http://schemas.microsoft.com/office/drawing/2014/main" id="{09BE6A56-6772-D906-62B7-8D44E35CAA53}"/>
              </a:ext>
            </a:extLst>
          </p:cNvPr>
          <p:cNvSpPr>
            <a:spLocks noGrp="1"/>
          </p:cNvSpPr>
          <p:nvPr/>
        </p:nvSpPr>
        <p:spPr>
          <a:xfrm>
            <a:off x="500743" y="704850"/>
            <a:ext cx="9703934" cy="800100"/>
          </a:xfrm>
          <a:prstGeom prst="rect">
            <a:avLst/>
          </a:prstGeom>
          <a:noFill/>
          <a:ln w="0">
            <a:noFill/>
          </a:ln>
        </p:spPr>
        <p:txBody>
          <a:bodyPr wrap="square" lIns="0" tIns="0" rIns="0" bIns="0" anchor="t">
            <a:noAutofit/>
          </a:bodyPr>
          <a:lstStyle/>
          <a:p>
            <a:pPr>
              <a:defRPr sz="1800" b="0">
                <a:solidFill>
                  <a:srgbClr val="12263D"/>
                </a:solidFill>
                <a:latin typeface="Calibri"/>
                <a:ea typeface="Calibri"/>
                <a:cs typeface="Calibri"/>
              </a:defRPr>
            </a:pPr>
            <a:r>
              <a:rPr lang="en-US" sz="3200" b="1" dirty="0">
                <a:solidFill>
                  <a:srgbClr val="12263D"/>
                </a:solidFill>
                <a:latin typeface="Calibri"/>
                <a:ea typeface="Calibri"/>
                <a:cs typeface="Calibri"/>
              </a:rPr>
              <a:t>Mawlana </a:t>
            </a:r>
            <a:r>
              <a:rPr lang="en-US" sz="3200" b="1" dirty="0" err="1">
                <a:solidFill>
                  <a:srgbClr val="12263D"/>
                </a:solidFill>
                <a:latin typeface="Calibri"/>
                <a:ea typeface="Calibri"/>
                <a:cs typeface="Calibri"/>
              </a:rPr>
              <a:t>Bhashani</a:t>
            </a:r>
            <a:r>
              <a:rPr lang="en-US" sz="3200" b="1" dirty="0">
                <a:solidFill>
                  <a:srgbClr val="12263D"/>
                </a:solidFill>
                <a:latin typeface="Calibri"/>
                <a:ea typeface="Calibri"/>
                <a:cs typeface="Calibri"/>
              </a:rPr>
              <a:t> Science and Technology University</a:t>
            </a:r>
            <a:endParaRPr sz="3200" b="1" dirty="0">
              <a:solidFill>
                <a:srgbClr val="12263D"/>
              </a:solidFill>
              <a:latin typeface="Calibri"/>
              <a:ea typeface="Calibri"/>
              <a:cs typeface="Calibri"/>
            </a:endParaRPr>
          </a:p>
        </p:txBody>
      </p:sp>
      <p:sp>
        <p:nvSpPr>
          <p:cNvPr id="17" name="[Paper title in sentence case]">
            <a:extLst>
              <a:ext uri="{FF2B5EF4-FFF2-40B4-BE49-F238E27FC236}">
                <a16:creationId xmlns:a16="http://schemas.microsoft.com/office/drawing/2014/main" id="{2BD882E1-8937-F4AD-EE3F-886E706C17D8}"/>
              </a:ext>
            </a:extLst>
          </p:cNvPr>
          <p:cNvSpPr>
            <a:spLocks noGrp="1"/>
          </p:cNvSpPr>
          <p:nvPr/>
        </p:nvSpPr>
        <p:spPr>
          <a:xfrm>
            <a:off x="647700" y="2476500"/>
            <a:ext cx="10763250" cy="1343025"/>
          </a:xfrm>
          <a:prstGeom prst="rect">
            <a:avLst/>
          </a:prstGeom>
          <a:noFill/>
          <a:ln w="0">
            <a:noFill/>
          </a:ln>
        </p:spPr>
        <p:txBody>
          <a:bodyPr wrap="square" lIns="0" tIns="0" rIns="0" bIns="0" anchor="t">
            <a:noAutofit/>
          </a:bodyPr>
          <a:lstStyle/>
          <a:p>
            <a:pPr>
              <a:defRPr sz="3650" b="1">
                <a:solidFill>
                  <a:srgbClr val="12263D"/>
                </a:solidFill>
                <a:latin typeface="Calibri"/>
                <a:ea typeface="Calibri"/>
                <a:cs typeface="Calibri"/>
              </a:defRPr>
            </a:pPr>
            <a:r>
              <a:rPr lang="en-US" sz="3650" b="1" dirty="0">
                <a:solidFill>
                  <a:srgbClr val="12263D"/>
                </a:solidFill>
                <a:latin typeface="Calibri"/>
              </a:rPr>
              <a:t>Semantic Communication for Image Reconstruction in 6G Wireless Networks</a:t>
            </a:r>
            <a:endParaRPr sz="3600" b="1" dirty="0">
              <a:solidFill>
                <a:srgbClr val="12263D"/>
              </a:solidFill>
              <a:latin typeface="Calibri"/>
              <a:ea typeface="Calibri"/>
              <a:cs typeface="Calibri"/>
            </a:endParaRPr>
          </a:p>
        </p:txBody>
      </p:sp>
      <p:sp>
        <p:nvSpPr>
          <p:cNvPr id="20" name="[Presenter name]">
            <a:extLst>
              <a:ext uri="{FF2B5EF4-FFF2-40B4-BE49-F238E27FC236}">
                <a16:creationId xmlns:a16="http://schemas.microsoft.com/office/drawing/2014/main" id="{9A4CD1EA-7DD1-821C-863C-4A3D2A224D99}"/>
              </a:ext>
            </a:extLst>
          </p:cNvPr>
          <p:cNvSpPr>
            <a:spLocks noGrp="1"/>
          </p:cNvSpPr>
          <p:nvPr/>
        </p:nvSpPr>
        <p:spPr>
          <a:xfrm>
            <a:off x="647700" y="4162425"/>
            <a:ext cx="8572500" cy="400050"/>
          </a:xfrm>
          <a:prstGeom prst="rect">
            <a:avLst/>
          </a:prstGeom>
          <a:noFill/>
          <a:ln w="0">
            <a:noFill/>
          </a:ln>
        </p:spPr>
        <p:txBody>
          <a:bodyPr wrap="square" lIns="0" tIns="0" rIns="0" bIns="0" anchor="t">
            <a:noAutofit/>
          </a:bodyPr>
          <a:lstStyle/>
          <a:p>
            <a:pPr>
              <a:defRPr sz="2050" b="1">
                <a:solidFill>
                  <a:srgbClr val="12263D"/>
                </a:solidFill>
                <a:latin typeface="Calibri"/>
                <a:ea typeface="Calibri"/>
                <a:cs typeface="Calibri"/>
              </a:defRPr>
            </a:pPr>
            <a:r>
              <a:rPr lang="en-US" sz="2400" b="1" dirty="0">
                <a:solidFill>
                  <a:srgbClr val="12263D"/>
                </a:solidFill>
                <a:latin typeface="Calibri"/>
                <a:ea typeface="Calibri"/>
                <a:cs typeface="Calibri"/>
              </a:rPr>
              <a:t> MD. </a:t>
            </a:r>
            <a:r>
              <a:rPr lang="en-US" sz="2400" b="1" dirty="0" err="1">
                <a:solidFill>
                  <a:srgbClr val="12263D"/>
                </a:solidFill>
                <a:latin typeface="Calibri"/>
                <a:ea typeface="Calibri"/>
                <a:cs typeface="Calibri"/>
              </a:rPr>
              <a:t>Rabbikul</a:t>
            </a:r>
            <a:r>
              <a:rPr lang="en-US" sz="2400" b="1" dirty="0">
                <a:solidFill>
                  <a:srgbClr val="12263D"/>
                </a:solidFill>
                <a:latin typeface="Calibri"/>
                <a:ea typeface="Calibri"/>
                <a:cs typeface="Calibri"/>
              </a:rPr>
              <a:t> Islam Ratul (IT-22012)</a:t>
            </a:r>
            <a:endParaRPr sz="2400" b="1" dirty="0">
              <a:solidFill>
                <a:srgbClr val="12263D"/>
              </a:solidFill>
              <a:latin typeface="Calibri"/>
              <a:ea typeface="Calibri"/>
              <a:cs typeface="Calibri"/>
            </a:endParaRPr>
          </a:p>
        </p:txBody>
      </p:sp>
      <p:sp>
        <p:nvSpPr>
          <p:cNvPr id="22" name="[Co-authors]&#10;[Department, institution and country]">
            <a:extLst>
              <a:ext uri="{FF2B5EF4-FFF2-40B4-BE49-F238E27FC236}">
                <a16:creationId xmlns:a16="http://schemas.microsoft.com/office/drawing/2014/main" id="{07C81E6E-86B1-B224-1DB0-8CA1799A2C70}"/>
              </a:ext>
            </a:extLst>
          </p:cNvPr>
          <p:cNvSpPr>
            <a:spLocks noGrp="1"/>
          </p:cNvSpPr>
          <p:nvPr/>
        </p:nvSpPr>
        <p:spPr>
          <a:xfrm>
            <a:off x="647700" y="4657725"/>
            <a:ext cx="10477500" cy="809625"/>
          </a:xfrm>
          <a:prstGeom prst="rect">
            <a:avLst/>
          </a:prstGeom>
          <a:noFill/>
          <a:ln w="0">
            <a:noFill/>
          </a:ln>
        </p:spPr>
        <p:txBody>
          <a:bodyPr wrap="square" lIns="0" tIns="0" rIns="0" bIns="0" anchor="t">
            <a:noAutofit/>
          </a:bodyPr>
          <a:lstStyle/>
          <a:p>
            <a:pPr>
              <a:defRPr sz="1700" b="0">
                <a:solidFill>
                  <a:srgbClr val="627185"/>
                </a:solidFill>
                <a:latin typeface="Calibri"/>
                <a:ea typeface="Calibri"/>
                <a:cs typeface="Calibri"/>
              </a:defRPr>
            </a:pPr>
            <a:endParaRPr sz="2400" b="1" dirty="0">
              <a:solidFill>
                <a:srgbClr val="627185"/>
              </a:solidFill>
              <a:latin typeface="Calibri"/>
              <a:ea typeface="Calibri"/>
              <a:cs typeface="Calibri"/>
            </a:endParaRPr>
          </a:p>
          <a:p>
            <a:pPr>
              <a:defRPr sz="1700" b="0">
                <a:solidFill>
                  <a:srgbClr val="627185"/>
                </a:solidFill>
                <a:latin typeface="Calibri"/>
                <a:ea typeface="Calibri"/>
                <a:cs typeface="Calibri"/>
              </a:defRPr>
            </a:pPr>
            <a:r>
              <a:rPr lang="en-US" sz="2400" b="1" dirty="0">
                <a:solidFill>
                  <a:srgbClr val="627185"/>
                </a:solidFill>
                <a:latin typeface="Calibri"/>
                <a:ea typeface="Calibri"/>
                <a:cs typeface="Calibri"/>
              </a:rPr>
              <a:t> Department of Information and Communication Technology </a:t>
            </a:r>
            <a:endParaRPr sz="2400" b="1" dirty="0">
              <a:solidFill>
                <a:srgbClr val="627185"/>
              </a:solidFill>
              <a:latin typeface="Calibri"/>
              <a:ea typeface="Calibri"/>
              <a:cs typeface="Calibri"/>
            </a:endParaRPr>
          </a:p>
        </p:txBody>
      </p:sp>
      <p:sp>
        <p:nvSpPr>
          <p:cNvPr id="30" name="9–10 October 2026&#10;University of Dhaka, Bangladesh">
            <a:extLst>
              <a:ext uri="{FF2B5EF4-FFF2-40B4-BE49-F238E27FC236}">
                <a16:creationId xmlns:a16="http://schemas.microsoft.com/office/drawing/2014/main" id="{127D73DA-048B-3A8A-D70B-005A5BF7945D}"/>
              </a:ext>
            </a:extLst>
          </p:cNvPr>
          <p:cNvSpPr>
            <a:spLocks noGrp="1"/>
          </p:cNvSpPr>
          <p:nvPr/>
        </p:nvSpPr>
        <p:spPr>
          <a:xfrm>
            <a:off x="7562850" y="5953125"/>
            <a:ext cx="3952875" cy="657225"/>
          </a:xfrm>
          <a:prstGeom prst="rect">
            <a:avLst/>
          </a:prstGeom>
          <a:noFill/>
          <a:ln w="0">
            <a:noFill/>
          </a:ln>
        </p:spPr>
        <p:txBody>
          <a:bodyPr wrap="square" lIns="0" tIns="0" rIns="0" bIns="0" anchor="t">
            <a:noAutofit/>
          </a:bodyPr>
          <a:lstStyle/>
          <a:p>
            <a:pPr>
              <a:defRPr sz="1500" b="0">
                <a:solidFill>
                  <a:srgbClr val="12263D"/>
                </a:solidFill>
                <a:latin typeface="Calibri"/>
                <a:ea typeface="Calibri"/>
                <a:cs typeface="Calibri"/>
              </a:defRPr>
            </a:pPr>
            <a:endParaRPr sz="2000" b="0" dirty="0">
              <a:solidFill>
                <a:srgbClr val="12263D"/>
              </a:solidFill>
              <a:latin typeface="Calibri"/>
              <a:ea typeface="Calibri"/>
              <a:cs typeface="Calibri"/>
            </a:endParaRPr>
          </a:p>
        </p:txBody>
      </p:sp>
      <p:pic>
        <p:nvPicPr>
          <p:cNvPr id="31" name="Picture 30" descr="File:Logo of Mawlana Bhashani Science And Technology ...">
            <a:extLst>
              <a:ext uri="{FF2B5EF4-FFF2-40B4-BE49-F238E27FC236}">
                <a16:creationId xmlns:a16="http://schemas.microsoft.com/office/drawing/2014/main" id="{483F88D8-76E9-FB65-2FA4-544EE69D3EF3}"/>
              </a:ext>
            </a:extLst>
          </p:cNvPr>
          <p:cNvPicPr>
            <a:picLocks noChangeAspect="1"/>
          </p:cNvPicPr>
          <p:nvPr/>
        </p:nvPicPr>
        <p:blipFill>
          <a:blip r:embed="rId5"/>
          <a:stretch>
            <a:fillRect/>
          </a:stretch>
        </p:blipFill>
        <p:spPr>
          <a:xfrm>
            <a:off x="10420350" y="228600"/>
            <a:ext cx="1409700" cy="1409700"/>
          </a:xfrm>
          <a:prstGeom prst="rect">
            <a:avLst/>
          </a:prstGeom>
        </p:spPr>
      </p:pic>
      <p:pic>
        <p:nvPicPr>
          <p:cNvPr id="5" name="Audio 4">
            <a:hlinkClick r:id="" action="ppaction://media"/>
            <a:extLst>
              <a:ext uri="{FF2B5EF4-FFF2-40B4-BE49-F238E27FC236}">
                <a16:creationId xmlns:a16="http://schemas.microsoft.com/office/drawing/2014/main" id="{5159966D-1A03-1149-8C0A-E68135DAB173}"/>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325000" t="-160938" r="-325000" b="-160938"/>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814904059"/>
      </p:ext>
    </p:extLst>
  </p:cSld>
  <p:clrMapOvr>
    <a:masterClrMapping/>
  </p:clrMapOvr>
  <mc:AlternateContent xmlns:mc="http://schemas.openxmlformats.org/markup-compatibility/2006">
    <mc:Choice xmlns:p14="http://schemas.microsoft.com/office/powerpoint/2010/main" Requires="p14">
      <p:transition spd="slow" p14:dur="2000" advTm="13255"/>
    </mc:Choice>
    <mc:Fallback>
      <p:transition spd="slow" advTm="1325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resentation outline">
            <a:extLst>
              <a:ext uri="{FF2B5EF4-FFF2-40B4-BE49-F238E27FC236}">
                <a16:creationId xmlns:a16="http://schemas.microsoft.com/office/drawing/2014/main" id="{A5B029C4-4D0D-4FCE-A4FC-38AB3AC3F991}"/>
              </a:ext>
            </a:extLst>
          </p:cNvPr>
          <p:cNvSpPr>
            <a:spLocks noGrp="1"/>
          </p:cNvSpPr>
          <p:nvPr/>
        </p:nvSpPr>
        <p:spPr>
          <a:xfrm>
            <a:off x="647700" y="1181100"/>
            <a:ext cx="10810875" cy="628650"/>
          </a:xfrm>
          <a:prstGeom prst="rect">
            <a:avLst/>
          </a:prstGeom>
          <a:noFill/>
          <a:ln w="0">
            <a:noFill/>
          </a:ln>
        </p:spPr>
        <p:txBody>
          <a:bodyPr wrap="square" lIns="0" tIns="0" rIns="0" bIns="0" anchor="t">
            <a:noAutofit/>
          </a:bodyPr>
          <a:lstStyle/>
          <a:p>
            <a:pPr>
              <a:defRPr sz="2900" b="1">
                <a:solidFill>
                  <a:srgbClr val="12263D"/>
                </a:solidFill>
                <a:latin typeface="Calibri"/>
                <a:ea typeface="Calibri"/>
                <a:cs typeface="Calibri"/>
              </a:defRPr>
            </a:pPr>
            <a:r>
              <a:rPr sz="3600" b="1" dirty="0">
                <a:solidFill>
                  <a:srgbClr val="12263D"/>
                </a:solidFill>
                <a:latin typeface="Calibri"/>
                <a:ea typeface="Calibri"/>
                <a:cs typeface="Calibri"/>
              </a:rPr>
              <a:t>Presentation </a:t>
            </a:r>
            <a:r>
              <a:rPr lang="en-US" sz="3600" b="1" dirty="0">
                <a:solidFill>
                  <a:srgbClr val="12263D"/>
                </a:solidFill>
                <a:latin typeface="Calibri"/>
                <a:ea typeface="Calibri"/>
                <a:cs typeface="Calibri"/>
              </a:rPr>
              <a:t>O</a:t>
            </a:r>
            <a:r>
              <a:rPr sz="3600" b="1" dirty="0">
                <a:solidFill>
                  <a:srgbClr val="12263D"/>
                </a:solidFill>
                <a:latin typeface="Calibri"/>
                <a:ea typeface="Calibri"/>
                <a:cs typeface="Calibri"/>
              </a:rPr>
              <a:t>utline</a:t>
            </a:r>
          </a:p>
        </p:txBody>
      </p:sp>
      <p:sp>
        <p:nvSpPr>
          <p:cNvPr id="7" name="Straight Connector 6">
            <a:extLst>
              <a:ext uri="{FF2B5EF4-FFF2-40B4-BE49-F238E27FC236}">
                <a16:creationId xmlns:a16="http://schemas.microsoft.com/office/drawing/2014/main" id="{40818E8B-31FC-4A6E-90AF-3395CC9FB307}"/>
              </a:ext>
            </a:extLst>
          </p:cNvPr>
          <p:cNvSpPr>
            <a:spLocks noGrp="1"/>
          </p:cNvSpPr>
          <p:nvPr/>
        </p:nvSpPr>
        <p:spPr>
          <a:xfrm>
            <a:off x="647700" y="1933575"/>
            <a:ext cx="10896600" cy="0"/>
          </a:xfrm>
          <a:prstGeom prst="line">
            <a:avLst/>
          </a:prstGeom>
          <a:noFill/>
          <a:ln w="9525">
            <a:solidFill>
              <a:srgbClr val="D7E1E9"/>
            </a:solidFill>
          </a:ln>
        </p:spPr>
        <p:txBody>
          <a:bodyPr/>
          <a:lstStyle/>
          <a:p>
            <a:endParaRPr lang="en-GB" sz="2400"/>
          </a:p>
        </p:txBody>
      </p:sp>
      <p:sp>
        <p:nvSpPr>
          <p:cNvPr id="8" name="Straight Connector 7">
            <a:extLst>
              <a:ext uri="{FF2B5EF4-FFF2-40B4-BE49-F238E27FC236}">
                <a16:creationId xmlns:a16="http://schemas.microsoft.com/office/drawing/2014/main" id="{C7B19126-FE68-4054-976E-5994B09C55CD}"/>
              </a:ext>
            </a:extLst>
          </p:cNvPr>
          <p:cNvSpPr>
            <a:spLocks noGrp="1"/>
          </p:cNvSpPr>
          <p:nvPr/>
        </p:nvSpPr>
        <p:spPr>
          <a:xfrm>
            <a:off x="647700" y="6238875"/>
            <a:ext cx="10896600" cy="0"/>
          </a:xfrm>
          <a:prstGeom prst="line">
            <a:avLst/>
          </a:prstGeom>
          <a:noFill/>
          <a:ln w="9525">
            <a:solidFill>
              <a:srgbClr val="D7E1E9"/>
            </a:solidFill>
          </a:ln>
        </p:spPr>
        <p:txBody>
          <a:bodyPr/>
          <a:lstStyle/>
          <a:p>
            <a:endParaRPr lang="en-GB" sz="2000"/>
          </a:p>
        </p:txBody>
      </p:sp>
      <p:sp>
        <p:nvSpPr>
          <p:cNvPr id="9" name="[Short paper title]">
            <a:extLst>
              <a:ext uri="{FF2B5EF4-FFF2-40B4-BE49-F238E27FC236}">
                <a16:creationId xmlns:a16="http://schemas.microsoft.com/office/drawing/2014/main" id="{A3CE7BE6-4568-409C-98CF-829D404FDF68}"/>
              </a:ext>
            </a:extLst>
          </p:cNvPr>
          <p:cNvSpPr>
            <a:spLocks noGrp="1"/>
          </p:cNvSpPr>
          <p:nvPr/>
        </p:nvSpPr>
        <p:spPr>
          <a:xfrm>
            <a:off x="647700" y="6419850"/>
            <a:ext cx="6429375" cy="371472"/>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r>
              <a:rPr lang="en-US" sz="2000" dirty="0">
                <a:solidFill>
                  <a:srgbClr val="627185"/>
                </a:solidFill>
                <a:latin typeface="Calibri"/>
                <a:ea typeface="Calibri"/>
                <a:cs typeface="Calibri"/>
              </a:rPr>
              <a:t> Semantic Communication for 6G</a:t>
            </a:r>
          </a:p>
        </p:txBody>
      </p:sp>
      <p:sp>
        <p:nvSpPr>
          <p:cNvPr id="10" name="Paper ID: [000]">
            <a:extLst>
              <a:ext uri="{FF2B5EF4-FFF2-40B4-BE49-F238E27FC236}">
                <a16:creationId xmlns:a16="http://schemas.microsoft.com/office/drawing/2014/main" id="{15D47F79-4AB8-47CD-91E7-7CBBE6A8FB89}"/>
              </a:ext>
            </a:extLst>
          </p:cNvPr>
          <p:cNvSpPr>
            <a:spLocks noGrp="1"/>
          </p:cNvSpPr>
          <p:nvPr/>
        </p:nvSpPr>
        <p:spPr>
          <a:xfrm>
            <a:off x="8905875" y="6419850"/>
            <a:ext cx="2000250"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endParaRPr sz="2000" b="0" dirty="0">
              <a:solidFill>
                <a:srgbClr val="627185"/>
              </a:solidFill>
              <a:latin typeface="Calibri"/>
              <a:ea typeface="Calibri"/>
              <a:cs typeface="Calibri"/>
            </a:endParaRPr>
          </a:p>
        </p:txBody>
      </p:sp>
      <p:sp>
        <p:nvSpPr>
          <p:cNvPr id="11" name="02">
            <a:extLst>
              <a:ext uri="{FF2B5EF4-FFF2-40B4-BE49-F238E27FC236}">
                <a16:creationId xmlns:a16="http://schemas.microsoft.com/office/drawing/2014/main" id="{FF903C05-AC3D-481E-B667-A4BCA773EB75}"/>
              </a:ext>
            </a:extLst>
          </p:cNvPr>
          <p:cNvSpPr>
            <a:spLocks noGrp="1"/>
          </p:cNvSpPr>
          <p:nvPr/>
        </p:nvSpPr>
        <p:spPr>
          <a:xfrm>
            <a:off x="11125200" y="6419850"/>
            <a:ext cx="419100" cy="219075"/>
          </a:xfrm>
          <a:prstGeom prst="rect">
            <a:avLst/>
          </a:prstGeom>
          <a:noFill/>
          <a:ln w="0">
            <a:noFill/>
          </a:ln>
        </p:spPr>
        <p:txBody>
          <a:bodyPr wrap="square" lIns="0" tIns="0" rIns="0" bIns="0" anchor="t">
            <a:noAutofit/>
          </a:bodyPr>
          <a:lstStyle/>
          <a:p>
            <a:pPr>
              <a:defRPr sz="1000" b="1">
                <a:solidFill>
                  <a:srgbClr val="0067A6"/>
                </a:solidFill>
                <a:latin typeface="Calibri"/>
                <a:ea typeface="Calibri"/>
                <a:cs typeface="Calibri"/>
              </a:defRPr>
            </a:pPr>
            <a:r>
              <a:rPr sz="2000" b="1">
                <a:solidFill>
                  <a:srgbClr val="0067A6"/>
                </a:solidFill>
                <a:latin typeface="Calibri"/>
                <a:ea typeface="Calibri"/>
                <a:cs typeface="Calibri"/>
              </a:rPr>
              <a:t>02</a:t>
            </a:r>
          </a:p>
        </p:txBody>
      </p:sp>
      <p:sp>
        <p:nvSpPr>
          <p:cNvPr id="12" name="01">
            <a:extLst>
              <a:ext uri="{FF2B5EF4-FFF2-40B4-BE49-F238E27FC236}">
                <a16:creationId xmlns:a16="http://schemas.microsoft.com/office/drawing/2014/main" id="{C3A7E6A0-ECFF-478D-B75E-BDC1721D4810}"/>
              </a:ext>
            </a:extLst>
          </p:cNvPr>
          <p:cNvSpPr>
            <a:spLocks noGrp="1"/>
          </p:cNvSpPr>
          <p:nvPr/>
        </p:nvSpPr>
        <p:spPr>
          <a:xfrm>
            <a:off x="666750" y="2076450"/>
            <a:ext cx="523875" cy="409575"/>
          </a:xfrm>
          <a:prstGeom prst="rect">
            <a:avLst/>
          </a:prstGeom>
          <a:noFill/>
          <a:ln w="0">
            <a:noFill/>
          </a:ln>
        </p:spPr>
        <p:txBody>
          <a:bodyPr wrap="square" lIns="0" tIns="0" rIns="0" bIns="0" anchor="t">
            <a:noAutofit/>
          </a:bodyPr>
          <a:lstStyle/>
          <a:p>
            <a:pPr>
              <a:defRPr sz="1800" b="1">
                <a:solidFill>
                  <a:srgbClr val="0067A6"/>
                </a:solidFill>
                <a:latin typeface="Calibri"/>
                <a:ea typeface="Calibri"/>
                <a:cs typeface="Calibri"/>
              </a:defRPr>
            </a:pPr>
            <a:r>
              <a:rPr sz="2400" b="1" dirty="0">
                <a:solidFill>
                  <a:srgbClr val="0067A6"/>
                </a:solidFill>
                <a:latin typeface="Calibri"/>
                <a:ea typeface="Calibri"/>
                <a:cs typeface="Calibri"/>
              </a:rPr>
              <a:t>01</a:t>
            </a:r>
          </a:p>
        </p:txBody>
      </p:sp>
      <p:sp>
        <p:nvSpPr>
          <p:cNvPr id="13" name="Introduction and research problem">
            <a:extLst>
              <a:ext uri="{FF2B5EF4-FFF2-40B4-BE49-F238E27FC236}">
                <a16:creationId xmlns:a16="http://schemas.microsoft.com/office/drawing/2014/main" id="{89E2A764-74F1-4106-B3FA-B428FCBBF191}"/>
              </a:ext>
            </a:extLst>
          </p:cNvPr>
          <p:cNvSpPr>
            <a:spLocks noGrp="1"/>
          </p:cNvSpPr>
          <p:nvPr/>
        </p:nvSpPr>
        <p:spPr>
          <a:xfrm>
            <a:off x="1428750" y="2076450"/>
            <a:ext cx="9525000" cy="438150"/>
          </a:xfrm>
          <a:prstGeom prst="rect">
            <a:avLst/>
          </a:prstGeom>
          <a:noFill/>
          <a:ln w="0">
            <a:noFill/>
          </a:ln>
        </p:spPr>
        <p:txBody>
          <a:bodyPr wrap="square" lIns="0" tIns="0" rIns="0" bIns="0" anchor="t">
            <a:noAutofit/>
          </a:bodyPr>
          <a:lstStyle/>
          <a:p>
            <a:pPr>
              <a:defRPr sz="2050" b="0">
                <a:solidFill>
                  <a:srgbClr val="12263D"/>
                </a:solidFill>
                <a:latin typeface="Calibri"/>
                <a:ea typeface="Calibri"/>
                <a:cs typeface="Calibri"/>
              </a:defRPr>
            </a:pPr>
            <a:r>
              <a:rPr sz="2400" b="0" dirty="0">
                <a:solidFill>
                  <a:srgbClr val="12263D"/>
                </a:solidFill>
                <a:latin typeface="Calibri"/>
                <a:ea typeface="Calibri"/>
                <a:cs typeface="Calibri"/>
              </a:rPr>
              <a:t>Introduction and research problem</a:t>
            </a:r>
          </a:p>
        </p:txBody>
      </p:sp>
      <p:sp>
        <p:nvSpPr>
          <p:cNvPr id="14" name="02">
            <a:extLst>
              <a:ext uri="{FF2B5EF4-FFF2-40B4-BE49-F238E27FC236}">
                <a16:creationId xmlns:a16="http://schemas.microsoft.com/office/drawing/2014/main" id="{30952A16-688F-4A85-8317-BE984A0380D9}"/>
              </a:ext>
            </a:extLst>
          </p:cNvPr>
          <p:cNvSpPr>
            <a:spLocks noGrp="1"/>
          </p:cNvSpPr>
          <p:nvPr/>
        </p:nvSpPr>
        <p:spPr>
          <a:xfrm>
            <a:off x="666750" y="2809875"/>
            <a:ext cx="523875" cy="409575"/>
          </a:xfrm>
          <a:prstGeom prst="rect">
            <a:avLst/>
          </a:prstGeom>
          <a:noFill/>
          <a:ln w="0">
            <a:noFill/>
          </a:ln>
        </p:spPr>
        <p:txBody>
          <a:bodyPr wrap="square" lIns="0" tIns="0" rIns="0" bIns="0" anchor="t">
            <a:noAutofit/>
          </a:bodyPr>
          <a:lstStyle/>
          <a:p>
            <a:pPr>
              <a:defRPr sz="1800" b="1">
                <a:solidFill>
                  <a:srgbClr val="0067A6"/>
                </a:solidFill>
                <a:latin typeface="Calibri"/>
                <a:ea typeface="Calibri"/>
                <a:cs typeface="Calibri"/>
              </a:defRPr>
            </a:pPr>
            <a:r>
              <a:rPr sz="2400" b="1">
                <a:solidFill>
                  <a:srgbClr val="0067A6"/>
                </a:solidFill>
                <a:latin typeface="Calibri"/>
                <a:ea typeface="Calibri"/>
                <a:cs typeface="Calibri"/>
              </a:rPr>
              <a:t>02</a:t>
            </a:r>
          </a:p>
        </p:txBody>
      </p:sp>
      <p:sp>
        <p:nvSpPr>
          <p:cNvPr id="15" name="Related work and research gap">
            <a:extLst>
              <a:ext uri="{FF2B5EF4-FFF2-40B4-BE49-F238E27FC236}">
                <a16:creationId xmlns:a16="http://schemas.microsoft.com/office/drawing/2014/main" id="{F95A9428-9A3D-4E4B-AB9D-0D5640340404}"/>
              </a:ext>
            </a:extLst>
          </p:cNvPr>
          <p:cNvSpPr>
            <a:spLocks noGrp="1"/>
          </p:cNvSpPr>
          <p:nvPr/>
        </p:nvSpPr>
        <p:spPr>
          <a:xfrm>
            <a:off x="1428750" y="2809875"/>
            <a:ext cx="9525000" cy="438150"/>
          </a:xfrm>
          <a:prstGeom prst="rect">
            <a:avLst/>
          </a:prstGeom>
          <a:noFill/>
          <a:ln w="0">
            <a:noFill/>
          </a:ln>
        </p:spPr>
        <p:txBody>
          <a:bodyPr wrap="square" lIns="0" tIns="0" rIns="0" bIns="0" anchor="t">
            <a:noAutofit/>
          </a:bodyPr>
          <a:lstStyle/>
          <a:p>
            <a:pPr>
              <a:defRPr sz="2050" b="0">
                <a:solidFill>
                  <a:srgbClr val="12263D"/>
                </a:solidFill>
                <a:latin typeface="Calibri"/>
                <a:ea typeface="Calibri"/>
                <a:cs typeface="Calibri"/>
              </a:defRPr>
            </a:pPr>
            <a:r>
              <a:rPr sz="2400" b="0" dirty="0">
                <a:solidFill>
                  <a:srgbClr val="12263D"/>
                </a:solidFill>
                <a:latin typeface="Calibri"/>
                <a:ea typeface="Calibri"/>
                <a:cs typeface="Calibri"/>
              </a:rPr>
              <a:t>Related work and research gap</a:t>
            </a:r>
          </a:p>
        </p:txBody>
      </p:sp>
      <p:sp>
        <p:nvSpPr>
          <p:cNvPr id="16" name="03">
            <a:extLst>
              <a:ext uri="{FF2B5EF4-FFF2-40B4-BE49-F238E27FC236}">
                <a16:creationId xmlns:a16="http://schemas.microsoft.com/office/drawing/2014/main" id="{7CBDF035-FDA2-4033-AA3D-327C7A4883B4}"/>
              </a:ext>
            </a:extLst>
          </p:cNvPr>
          <p:cNvSpPr>
            <a:spLocks noGrp="1"/>
          </p:cNvSpPr>
          <p:nvPr/>
        </p:nvSpPr>
        <p:spPr>
          <a:xfrm>
            <a:off x="666750" y="3543300"/>
            <a:ext cx="523875" cy="409575"/>
          </a:xfrm>
          <a:prstGeom prst="rect">
            <a:avLst/>
          </a:prstGeom>
          <a:noFill/>
          <a:ln w="0">
            <a:noFill/>
          </a:ln>
        </p:spPr>
        <p:txBody>
          <a:bodyPr wrap="square" lIns="0" tIns="0" rIns="0" bIns="0" anchor="t">
            <a:noAutofit/>
          </a:bodyPr>
          <a:lstStyle/>
          <a:p>
            <a:pPr>
              <a:defRPr sz="1800" b="1">
                <a:solidFill>
                  <a:srgbClr val="0067A6"/>
                </a:solidFill>
                <a:latin typeface="Calibri"/>
                <a:ea typeface="Calibri"/>
                <a:cs typeface="Calibri"/>
              </a:defRPr>
            </a:pPr>
            <a:r>
              <a:rPr sz="2400" b="1">
                <a:solidFill>
                  <a:srgbClr val="0067A6"/>
                </a:solidFill>
                <a:latin typeface="Calibri"/>
                <a:ea typeface="Calibri"/>
                <a:cs typeface="Calibri"/>
              </a:rPr>
              <a:t>03</a:t>
            </a:r>
          </a:p>
        </p:txBody>
      </p:sp>
      <p:sp>
        <p:nvSpPr>
          <p:cNvPr id="17" name="Proposed solution and methodology">
            <a:extLst>
              <a:ext uri="{FF2B5EF4-FFF2-40B4-BE49-F238E27FC236}">
                <a16:creationId xmlns:a16="http://schemas.microsoft.com/office/drawing/2014/main" id="{85B4B574-DFD8-4293-9EF9-581564D21E1A}"/>
              </a:ext>
            </a:extLst>
          </p:cNvPr>
          <p:cNvSpPr>
            <a:spLocks noGrp="1"/>
          </p:cNvSpPr>
          <p:nvPr/>
        </p:nvSpPr>
        <p:spPr>
          <a:xfrm>
            <a:off x="1428750" y="3543300"/>
            <a:ext cx="9525000" cy="438150"/>
          </a:xfrm>
          <a:prstGeom prst="rect">
            <a:avLst/>
          </a:prstGeom>
          <a:noFill/>
          <a:ln w="0">
            <a:noFill/>
          </a:ln>
        </p:spPr>
        <p:txBody>
          <a:bodyPr wrap="square" lIns="0" tIns="0" rIns="0" bIns="0" anchor="t">
            <a:noAutofit/>
          </a:bodyPr>
          <a:lstStyle/>
          <a:p>
            <a:pPr>
              <a:defRPr sz="2050" b="0">
                <a:solidFill>
                  <a:srgbClr val="12263D"/>
                </a:solidFill>
                <a:latin typeface="Calibri"/>
                <a:ea typeface="Calibri"/>
                <a:cs typeface="Calibri"/>
              </a:defRPr>
            </a:pPr>
            <a:r>
              <a:rPr sz="2400" b="0" dirty="0">
                <a:solidFill>
                  <a:srgbClr val="12263D"/>
                </a:solidFill>
                <a:latin typeface="Calibri"/>
                <a:ea typeface="Calibri"/>
                <a:cs typeface="Calibri"/>
              </a:rPr>
              <a:t>Proposed solution and methodology</a:t>
            </a:r>
          </a:p>
        </p:txBody>
      </p:sp>
      <p:sp>
        <p:nvSpPr>
          <p:cNvPr id="18" name="04">
            <a:extLst>
              <a:ext uri="{FF2B5EF4-FFF2-40B4-BE49-F238E27FC236}">
                <a16:creationId xmlns:a16="http://schemas.microsoft.com/office/drawing/2014/main" id="{B82C6331-5D6E-4EA0-9A12-EAA1B97ED2E2}"/>
              </a:ext>
            </a:extLst>
          </p:cNvPr>
          <p:cNvSpPr>
            <a:spLocks noGrp="1"/>
          </p:cNvSpPr>
          <p:nvPr/>
        </p:nvSpPr>
        <p:spPr>
          <a:xfrm>
            <a:off x="666750" y="4276725"/>
            <a:ext cx="523875" cy="409575"/>
          </a:xfrm>
          <a:prstGeom prst="rect">
            <a:avLst/>
          </a:prstGeom>
          <a:noFill/>
          <a:ln w="0">
            <a:noFill/>
          </a:ln>
        </p:spPr>
        <p:txBody>
          <a:bodyPr wrap="square" lIns="0" tIns="0" rIns="0" bIns="0" anchor="t">
            <a:noAutofit/>
          </a:bodyPr>
          <a:lstStyle/>
          <a:p>
            <a:pPr>
              <a:defRPr sz="1800" b="1">
                <a:solidFill>
                  <a:srgbClr val="0067A6"/>
                </a:solidFill>
                <a:latin typeface="Calibri"/>
                <a:ea typeface="Calibri"/>
                <a:cs typeface="Calibri"/>
              </a:defRPr>
            </a:pPr>
            <a:r>
              <a:rPr sz="2400" b="1">
                <a:solidFill>
                  <a:srgbClr val="0067A6"/>
                </a:solidFill>
                <a:latin typeface="Calibri"/>
                <a:ea typeface="Calibri"/>
                <a:cs typeface="Calibri"/>
              </a:rPr>
              <a:t>04</a:t>
            </a:r>
          </a:p>
        </p:txBody>
      </p:sp>
      <p:sp>
        <p:nvSpPr>
          <p:cNvPr id="19" name="Experiments and results">
            <a:extLst>
              <a:ext uri="{FF2B5EF4-FFF2-40B4-BE49-F238E27FC236}">
                <a16:creationId xmlns:a16="http://schemas.microsoft.com/office/drawing/2014/main" id="{6E3B01A1-770D-419B-8490-57AEE6D94920}"/>
              </a:ext>
            </a:extLst>
          </p:cNvPr>
          <p:cNvSpPr>
            <a:spLocks noGrp="1"/>
          </p:cNvSpPr>
          <p:nvPr/>
        </p:nvSpPr>
        <p:spPr>
          <a:xfrm>
            <a:off x="1428750" y="4276725"/>
            <a:ext cx="9525000" cy="438150"/>
          </a:xfrm>
          <a:prstGeom prst="rect">
            <a:avLst/>
          </a:prstGeom>
          <a:noFill/>
          <a:ln w="0">
            <a:noFill/>
          </a:ln>
        </p:spPr>
        <p:txBody>
          <a:bodyPr wrap="square" lIns="0" tIns="0" rIns="0" bIns="0" anchor="t">
            <a:noAutofit/>
          </a:bodyPr>
          <a:lstStyle/>
          <a:p>
            <a:pPr>
              <a:defRPr sz="2050" b="0">
                <a:solidFill>
                  <a:srgbClr val="12263D"/>
                </a:solidFill>
                <a:latin typeface="Calibri"/>
                <a:ea typeface="Calibri"/>
                <a:cs typeface="Calibri"/>
              </a:defRPr>
            </a:pPr>
            <a:r>
              <a:rPr sz="2400" b="0" dirty="0">
                <a:solidFill>
                  <a:srgbClr val="12263D"/>
                </a:solidFill>
                <a:latin typeface="Calibri"/>
                <a:ea typeface="Calibri"/>
                <a:cs typeface="Calibri"/>
              </a:rPr>
              <a:t>Experiments and results</a:t>
            </a:r>
          </a:p>
        </p:txBody>
      </p:sp>
      <p:sp>
        <p:nvSpPr>
          <p:cNvPr id="20" name="05">
            <a:extLst>
              <a:ext uri="{FF2B5EF4-FFF2-40B4-BE49-F238E27FC236}">
                <a16:creationId xmlns:a16="http://schemas.microsoft.com/office/drawing/2014/main" id="{9A3A7759-96B0-4B7A-B1FB-C9ACEC6C55D9}"/>
              </a:ext>
            </a:extLst>
          </p:cNvPr>
          <p:cNvSpPr>
            <a:spLocks noGrp="1"/>
          </p:cNvSpPr>
          <p:nvPr/>
        </p:nvSpPr>
        <p:spPr>
          <a:xfrm>
            <a:off x="666750" y="5010150"/>
            <a:ext cx="523875" cy="409575"/>
          </a:xfrm>
          <a:prstGeom prst="rect">
            <a:avLst/>
          </a:prstGeom>
          <a:noFill/>
          <a:ln w="0">
            <a:noFill/>
          </a:ln>
        </p:spPr>
        <p:txBody>
          <a:bodyPr wrap="square" lIns="0" tIns="0" rIns="0" bIns="0" anchor="t">
            <a:noAutofit/>
          </a:bodyPr>
          <a:lstStyle/>
          <a:p>
            <a:pPr>
              <a:defRPr sz="1800" b="1">
                <a:solidFill>
                  <a:srgbClr val="0067A6"/>
                </a:solidFill>
                <a:latin typeface="Calibri"/>
                <a:ea typeface="Calibri"/>
                <a:cs typeface="Calibri"/>
              </a:defRPr>
            </a:pPr>
            <a:r>
              <a:rPr sz="2400" b="1">
                <a:solidFill>
                  <a:srgbClr val="0067A6"/>
                </a:solidFill>
                <a:latin typeface="Calibri"/>
                <a:ea typeface="Calibri"/>
                <a:cs typeface="Calibri"/>
              </a:rPr>
              <a:t>05</a:t>
            </a:r>
          </a:p>
        </p:txBody>
      </p:sp>
      <p:sp>
        <p:nvSpPr>
          <p:cNvPr id="21" name="Conclusion">
            <a:extLst>
              <a:ext uri="{FF2B5EF4-FFF2-40B4-BE49-F238E27FC236}">
                <a16:creationId xmlns:a16="http://schemas.microsoft.com/office/drawing/2014/main" id="{5AE01068-C1C0-463D-8C3E-8BED3BD25B0F}"/>
              </a:ext>
            </a:extLst>
          </p:cNvPr>
          <p:cNvSpPr>
            <a:spLocks noGrp="1"/>
          </p:cNvSpPr>
          <p:nvPr/>
        </p:nvSpPr>
        <p:spPr>
          <a:xfrm>
            <a:off x="1428750" y="5010150"/>
            <a:ext cx="9525000" cy="438150"/>
          </a:xfrm>
          <a:prstGeom prst="rect">
            <a:avLst/>
          </a:prstGeom>
          <a:noFill/>
          <a:ln w="0">
            <a:noFill/>
          </a:ln>
        </p:spPr>
        <p:txBody>
          <a:bodyPr wrap="square" lIns="0" tIns="0" rIns="0" bIns="0" anchor="t">
            <a:noAutofit/>
          </a:bodyPr>
          <a:lstStyle/>
          <a:p>
            <a:pPr>
              <a:defRPr sz="2050" b="0">
                <a:solidFill>
                  <a:srgbClr val="12263D"/>
                </a:solidFill>
                <a:latin typeface="Calibri"/>
                <a:ea typeface="Calibri"/>
                <a:cs typeface="Calibri"/>
              </a:defRPr>
            </a:pPr>
            <a:r>
              <a:rPr sz="2400" b="0" dirty="0">
                <a:solidFill>
                  <a:srgbClr val="12263D"/>
                </a:solidFill>
                <a:latin typeface="Calibri"/>
                <a:ea typeface="Calibri"/>
                <a:cs typeface="Calibri"/>
              </a:rPr>
              <a:t>Conclusion</a:t>
            </a:r>
          </a:p>
        </p:txBody>
      </p:sp>
      <p:pic>
        <p:nvPicPr>
          <p:cNvPr id="2" name="Picture 1" descr="image.png">
            <a:extLst>
              <a:ext uri="{FF2B5EF4-FFF2-40B4-BE49-F238E27FC236}">
                <a16:creationId xmlns:a16="http://schemas.microsoft.com/office/drawing/2014/main" id="{9BDB34FE-2310-D949-71CE-BE3361BB555A}"/>
              </a:ext>
            </a:extLst>
          </p:cNvPr>
          <p:cNvPicPr>
            <a:picLocks noChangeAspect="1"/>
          </p:cNvPicPr>
          <p:nvPr/>
        </p:nvPicPr>
        <p:blipFill>
          <a:blip r:embed="rId5"/>
          <a:stretch>
            <a:fillRect/>
          </a:stretch>
        </p:blipFill>
        <p:spPr>
          <a:xfrm>
            <a:off x="10739437" y="144463"/>
            <a:ext cx="1438275" cy="1409700"/>
          </a:xfrm>
          <a:prstGeom prst="rect">
            <a:avLst/>
          </a:prstGeom>
        </p:spPr>
      </p:pic>
      <p:pic>
        <p:nvPicPr>
          <p:cNvPr id="3" name="Audio 2">
            <a:hlinkClick r:id="" action="ppaction://media"/>
            <a:extLst>
              <a:ext uri="{FF2B5EF4-FFF2-40B4-BE49-F238E27FC236}">
                <a16:creationId xmlns:a16="http://schemas.microsoft.com/office/drawing/2014/main" id="{446349DD-EAC0-388A-6E06-E46B77220133}"/>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325000" t="-160938" r="-325000" b="-160938"/>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1227196558"/>
      </p:ext>
    </p:extLst>
  </p:cSld>
  <p:clrMapOvr>
    <a:masterClrMapping/>
  </p:clrMapOvr>
  <mc:AlternateContent xmlns:mc="http://schemas.openxmlformats.org/markup-compatibility/2006">
    <mc:Choice xmlns:p14="http://schemas.microsoft.com/office/powerpoint/2010/main" Requires="p14">
      <p:transition spd="slow" p14:dur="2000" advTm="12738"/>
    </mc:Choice>
    <mc:Fallback>
      <p:transition spd="slow" advTm="1273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Introduction and research problem">
            <a:extLst>
              <a:ext uri="{FF2B5EF4-FFF2-40B4-BE49-F238E27FC236}">
                <a16:creationId xmlns:a16="http://schemas.microsoft.com/office/drawing/2014/main" id="{1A8B73DC-7EE2-4FE1-A05D-4DF7CECAC541}"/>
              </a:ext>
            </a:extLst>
          </p:cNvPr>
          <p:cNvSpPr>
            <a:spLocks noGrp="1"/>
          </p:cNvSpPr>
          <p:nvPr/>
        </p:nvSpPr>
        <p:spPr>
          <a:xfrm>
            <a:off x="647699" y="1016000"/>
            <a:ext cx="10810875" cy="628650"/>
          </a:xfrm>
          <a:prstGeom prst="rect">
            <a:avLst/>
          </a:prstGeom>
          <a:noFill/>
          <a:ln w="0">
            <a:noFill/>
          </a:ln>
        </p:spPr>
        <p:txBody>
          <a:bodyPr wrap="square" lIns="0" tIns="0" rIns="0" bIns="0" anchor="t">
            <a:noAutofit/>
          </a:bodyPr>
          <a:lstStyle/>
          <a:p>
            <a:pPr>
              <a:defRPr sz="2900" b="1">
                <a:solidFill>
                  <a:srgbClr val="12263D"/>
                </a:solidFill>
                <a:latin typeface="Calibri"/>
                <a:ea typeface="Calibri"/>
                <a:cs typeface="Calibri"/>
              </a:defRPr>
            </a:pPr>
            <a:r>
              <a:rPr sz="3600" b="1" dirty="0">
                <a:solidFill>
                  <a:srgbClr val="12263D"/>
                </a:solidFill>
                <a:latin typeface="Calibri"/>
                <a:ea typeface="Calibri"/>
                <a:cs typeface="Calibri"/>
              </a:rPr>
              <a:t>Introduction and </a:t>
            </a:r>
            <a:r>
              <a:rPr lang="en-US" sz="3600" b="1" dirty="0">
                <a:solidFill>
                  <a:srgbClr val="12263D"/>
                </a:solidFill>
                <a:latin typeface="Calibri"/>
                <a:ea typeface="Calibri"/>
                <a:cs typeface="Calibri"/>
              </a:rPr>
              <a:t>R</a:t>
            </a:r>
            <a:r>
              <a:rPr sz="3600" b="1" dirty="0">
                <a:solidFill>
                  <a:srgbClr val="12263D"/>
                </a:solidFill>
                <a:latin typeface="Calibri"/>
                <a:ea typeface="Calibri"/>
                <a:cs typeface="Calibri"/>
              </a:rPr>
              <a:t>esearch </a:t>
            </a:r>
            <a:r>
              <a:rPr lang="en-US" sz="3600" b="1" dirty="0">
                <a:solidFill>
                  <a:srgbClr val="12263D"/>
                </a:solidFill>
                <a:latin typeface="Calibri"/>
                <a:ea typeface="Calibri"/>
                <a:cs typeface="Calibri"/>
              </a:rPr>
              <a:t>P</a:t>
            </a:r>
            <a:r>
              <a:rPr sz="3600" b="1" dirty="0">
                <a:solidFill>
                  <a:srgbClr val="12263D"/>
                </a:solidFill>
                <a:latin typeface="Calibri"/>
                <a:ea typeface="Calibri"/>
                <a:cs typeface="Calibri"/>
              </a:rPr>
              <a:t>roblem</a:t>
            </a:r>
          </a:p>
        </p:txBody>
      </p:sp>
      <p:sp>
        <p:nvSpPr>
          <p:cNvPr id="7" name="Straight Connector 6">
            <a:extLst>
              <a:ext uri="{FF2B5EF4-FFF2-40B4-BE49-F238E27FC236}">
                <a16:creationId xmlns:a16="http://schemas.microsoft.com/office/drawing/2014/main" id="{81ECF239-D48D-410B-A52F-DEB9E2BFC6A8}"/>
              </a:ext>
            </a:extLst>
          </p:cNvPr>
          <p:cNvSpPr>
            <a:spLocks noGrp="1"/>
          </p:cNvSpPr>
          <p:nvPr/>
        </p:nvSpPr>
        <p:spPr>
          <a:xfrm>
            <a:off x="647700" y="1933575"/>
            <a:ext cx="10896600" cy="0"/>
          </a:xfrm>
          <a:prstGeom prst="line">
            <a:avLst/>
          </a:prstGeom>
          <a:noFill/>
          <a:ln w="9525">
            <a:solidFill>
              <a:srgbClr val="D7E1E9"/>
            </a:solidFill>
          </a:ln>
        </p:spPr>
        <p:txBody>
          <a:bodyPr/>
          <a:lstStyle/>
          <a:p>
            <a:endParaRPr lang="en-GB" sz="2400"/>
          </a:p>
        </p:txBody>
      </p:sp>
      <p:sp>
        <p:nvSpPr>
          <p:cNvPr id="8" name="Straight Connector 7">
            <a:extLst>
              <a:ext uri="{FF2B5EF4-FFF2-40B4-BE49-F238E27FC236}">
                <a16:creationId xmlns:a16="http://schemas.microsoft.com/office/drawing/2014/main" id="{96F09B21-CE4B-4E33-A2C5-C86E8314DE8A}"/>
              </a:ext>
            </a:extLst>
          </p:cNvPr>
          <p:cNvSpPr>
            <a:spLocks noGrp="1"/>
          </p:cNvSpPr>
          <p:nvPr/>
        </p:nvSpPr>
        <p:spPr>
          <a:xfrm>
            <a:off x="647700" y="6238875"/>
            <a:ext cx="10896600" cy="0"/>
          </a:xfrm>
          <a:prstGeom prst="line">
            <a:avLst/>
          </a:prstGeom>
          <a:noFill/>
          <a:ln w="9525">
            <a:solidFill>
              <a:srgbClr val="D7E1E9"/>
            </a:solidFill>
          </a:ln>
        </p:spPr>
        <p:txBody>
          <a:bodyPr/>
          <a:lstStyle/>
          <a:p>
            <a:endParaRPr lang="en-GB" sz="2000"/>
          </a:p>
        </p:txBody>
      </p:sp>
      <p:sp>
        <p:nvSpPr>
          <p:cNvPr id="9" name="[Short paper title]">
            <a:extLst>
              <a:ext uri="{FF2B5EF4-FFF2-40B4-BE49-F238E27FC236}">
                <a16:creationId xmlns:a16="http://schemas.microsoft.com/office/drawing/2014/main" id="{AC01DA27-97CB-4E85-A266-50B9F551994E}"/>
              </a:ext>
            </a:extLst>
          </p:cNvPr>
          <p:cNvSpPr>
            <a:spLocks noGrp="1"/>
          </p:cNvSpPr>
          <p:nvPr/>
        </p:nvSpPr>
        <p:spPr>
          <a:xfrm>
            <a:off x="647700" y="6419850"/>
            <a:ext cx="6429375" cy="352422"/>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r>
              <a:rPr lang="en-US" sz="2000" dirty="0">
                <a:solidFill>
                  <a:srgbClr val="627185"/>
                </a:solidFill>
                <a:latin typeface="Calibri"/>
                <a:ea typeface="Calibri"/>
                <a:cs typeface="Calibri"/>
              </a:rPr>
              <a:t> Semantic Communication for 6G</a:t>
            </a:r>
          </a:p>
        </p:txBody>
      </p:sp>
      <p:sp>
        <p:nvSpPr>
          <p:cNvPr id="10" name="Paper ID: [000]">
            <a:extLst>
              <a:ext uri="{FF2B5EF4-FFF2-40B4-BE49-F238E27FC236}">
                <a16:creationId xmlns:a16="http://schemas.microsoft.com/office/drawing/2014/main" id="{3A24EE1B-730D-4675-A91C-739401556328}"/>
              </a:ext>
            </a:extLst>
          </p:cNvPr>
          <p:cNvSpPr>
            <a:spLocks noGrp="1"/>
          </p:cNvSpPr>
          <p:nvPr/>
        </p:nvSpPr>
        <p:spPr>
          <a:xfrm>
            <a:off x="8905875" y="6419850"/>
            <a:ext cx="2000250"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endParaRPr sz="2000" b="0" dirty="0">
              <a:solidFill>
                <a:srgbClr val="627185"/>
              </a:solidFill>
              <a:latin typeface="Calibri"/>
              <a:ea typeface="Calibri"/>
              <a:cs typeface="Calibri"/>
            </a:endParaRPr>
          </a:p>
        </p:txBody>
      </p:sp>
      <p:sp>
        <p:nvSpPr>
          <p:cNvPr id="11" name="03">
            <a:extLst>
              <a:ext uri="{FF2B5EF4-FFF2-40B4-BE49-F238E27FC236}">
                <a16:creationId xmlns:a16="http://schemas.microsoft.com/office/drawing/2014/main" id="{F045F568-456A-46C8-B72A-070149591EA1}"/>
              </a:ext>
            </a:extLst>
          </p:cNvPr>
          <p:cNvSpPr>
            <a:spLocks noGrp="1"/>
          </p:cNvSpPr>
          <p:nvPr/>
        </p:nvSpPr>
        <p:spPr>
          <a:xfrm>
            <a:off x="11125200" y="6419850"/>
            <a:ext cx="419100" cy="219075"/>
          </a:xfrm>
          <a:prstGeom prst="rect">
            <a:avLst/>
          </a:prstGeom>
          <a:noFill/>
          <a:ln w="0">
            <a:noFill/>
          </a:ln>
        </p:spPr>
        <p:txBody>
          <a:bodyPr wrap="square" lIns="0" tIns="0" rIns="0" bIns="0" anchor="t">
            <a:noAutofit/>
          </a:bodyPr>
          <a:lstStyle/>
          <a:p>
            <a:pPr>
              <a:defRPr sz="1000" b="1">
                <a:solidFill>
                  <a:srgbClr val="0067A6"/>
                </a:solidFill>
                <a:latin typeface="Calibri"/>
                <a:ea typeface="Calibri"/>
                <a:cs typeface="Calibri"/>
              </a:defRPr>
            </a:pPr>
            <a:r>
              <a:rPr sz="2000" b="1">
                <a:solidFill>
                  <a:srgbClr val="0067A6"/>
                </a:solidFill>
                <a:latin typeface="Calibri"/>
                <a:ea typeface="Calibri"/>
                <a:cs typeface="Calibri"/>
              </a:rPr>
              <a:t>03</a:t>
            </a:r>
          </a:p>
        </p:txBody>
      </p:sp>
      <p:sp>
        <p:nvSpPr>
          <p:cNvPr id="12" name="[One sentence stating the problem]">
            <a:extLst>
              <a:ext uri="{FF2B5EF4-FFF2-40B4-BE49-F238E27FC236}">
                <a16:creationId xmlns:a16="http://schemas.microsoft.com/office/drawing/2014/main" id="{3BE9DD11-4623-4151-86F5-452711B5374C}"/>
              </a:ext>
            </a:extLst>
          </p:cNvPr>
          <p:cNvSpPr>
            <a:spLocks noGrp="1"/>
          </p:cNvSpPr>
          <p:nvPr/>
        </p:nvSpPr>
        <p:spPr>
          <a:xfrm>
            <a:off x="666750" y="2058987"/>
            <a:ext cx="10477500" cy="914400"/>
          </a:xfrm>
          <a:prstGeom prst="rect">
            <a:avLst/>
          </a:prstGeom>
          <a:noFill/>
          <a:ln w="0">
            <a:noFill/>
          </a:ln>
        </p:spPr>
        <p:txBody>
          <a:bodyPr wrap="square" lIns="0" tIns="0" rIns="0" bIns="0" anchor="t">
            <a:noAutofit/>
          </a:bodyPr>
          <a:lstStyle/>
          <a:p>
            <a:pPr algn="just">
              <a:defRPr sz="2350" b="1">
                <a:solidFill>
                  <a:srgbClr val="0067A6"/>
                </a:solidFill>
                <a:latin typeface="Calibri"/>
                <a:ea typeface="Calibri"/>
                <a:cs typeface="Calibri"/>
              </a:defRPr>
            </a:pPr>
            <a:r>
              <a:rPr lang="en-US" sz="2350" b="1" dirty="0">
                <a:solidFill>
                  <a:srgbClr val="0067A6"/>
                </a:solidFill>
                <a:latin typeface="Calibri"/>
              </a:rPr>
              <a:t>Conventional communication transmits the original message, while semantic communication aims to convey task-relevant meaning using a compact representation.</a:t>
            </a:r>
            <a:endParaRPr sz="2400" b="1" dirty="0">
              <a:solidFill>
                <a:srgbClr val="0067A6"/>
              </a:solidFill>
              <a:latin typeface="Calibri"/>
              <a:ea typeface="Calibri"/>
              <a:cs typeface="Calibri"/>
            </a:endParaRPr>
          </a:p>
        </p:txBody>
      </p:sp>
      <p:sp>
        <p:nvSpPr>
          <p:cNvPr id="13" name="01">
            <a:extLst>
              <a:ext uri="{FF2B5EF4-FFF2-40B4-BE49-F238E27FC236}">
                <a16:creationId xmlns:a16="http://schemas.microsoft.com/office/drawing/2014/main" id="{2C117B3A-7C19-425E-8A1F-DFFD6C43A661}"/>
              </a:ext>
            </a:extLst>
          </p:cNvPr>
          <p:cNvSpPr>
            <a:spLocks noGrp="1"/>
          </p:cNvSpPr>
          <p:nvPr/>
        </p:nvSpPr>
        <p:spPr>
          <a:xfrm>
            <a:off x="666750" y="3257550"/>
            <a:ext cx="476250" cy="361950"/>
          </a:xfrm>
          <a:prstGeom prst="rect">
            <a:avLst/>
          </a:prstGeom>
          <a:noFill/>
          <a:ln w="0">
            <a:noFill/>
          </a:ln>
        </p:spPr>
        <p:txBody>
          <a:bodyPr wrap="square" lIns="0" tIns="0" rIns="0" bIns="0" anchor="t">
            <a:noAutofit/>
          </a:bodyPr>
          <a:lstStyle/>
          <a:p>
            <a:pPr>
              <a:defRPr sz="1600" b="1">
                <a:solidFill>
                  <a:srgbClr val="0067A6"/>
                </a:solidFill>
                <a:latin typeface="Calibri"/>
                <a:ea typeface="Calibri"/>
                <a:cs typeface="Calibri"/>
              </a:defRPr>
            </a:pPr>
            <a:r>
              <a:rPr sz="2400" b="1">
                <a:solidFill>
                  <a:srgbClr val="0067A6"/>
                </a:solidFill>
                <a:latin typeface="Calibri"/>
                <a:ea typeface="Calibri"/>
                <a:cs typeface="Calibri"/>
              </a:rPr>
              <a:t>01</a:t>
            </a:r>
          </a:p>
        </p:txBody>
      </p:sp>
      <p:sp>
        <p:nvSpPr>
          <p:cNvPr id="14" name="[Why this problem matters]">
            <a:extLst>
              <a:ext uri="{FF2B5EF4-FFF2-40B4-BE49-F238E27FC236}">
                <a16:creationId xmlns:a16="http://schemas.microsoft.com/office/drawing/2014/main" id="{6BBF654E-0489-4DD8-9ABB-80953457FDA6}"/>
              </a:ext>
            </a:extLst>
          </p:cNvPr>
          <p:cNvSpPr>
            <a:spLocks noGrp="1"/>
          </p:cNvSpPr>
          <p:nvPr/>
        </p:nvSpPr>
        <p:spPr>
          <a:xfrm>
            <a:off x="1371600" y="3257550"/>
            <a:ext cx="9867900" cy="742950"/>
          </a:xfrm>
          <a:prstGeom prst="rect">
            <a:avLst/>
          </a:prstGeom>
          <a:noFill/>
          <a:ln w="0">
            <a:noFill/>
          </a:ln>
        </p:spPr>
        <p:txBody>
          <a:bodyPr wrap="square" lIns="0" tIns="0" rIns="0" bIns="0" anchor="t">
            <a:noAutofit/>
          </a:bodyPr>
          <a:lstStyle/>
          <a:p>
            <a:pPr algn="just">
              <a:defRPr sz="1950" b="0">
                <a:solidFill>
                  <a:srgbClr val="12263D"/>
                </a:solidFill>
                <a:latin typeface="Calibri"/>
                <a:ea typeface="Calibri"/>
                <a:cs typeface="Calibri"/>
              </a:defRPr>
            </a:pPr>
            <a:r>
              <a:rPr lang="en-US" sz="2400" b="0" dirty="0">
                <a:solidFill>
                  <a:srgbClr val="12263D"/>
                </a:solidFill>
                <a:latin typeface="Calibri"/>
                <a:ea typeface="Calibri"/>
                <a:cs typeface="Calibri"/>
              </a:rPr>
              <a:t> </a:t>
            </a:r>
            <a:r>
              <a:rPr lang="en-US" sz="2400" dirty="0">
                <a:solidFill>
                  <a:srgbClr val="12263D"/>
                </a:solidFill>
                <a:latin typeface="Calibri"/>
              </a:rPr>
              <a:t>Future 6G applications may require efficient transmission of important information under limited communication resources and unreliable channel.</a:t>
            </a:r>
          </a:p>
          <a:p>
            <a:pPr algn="just">
              <a:defRPr sz="1950" b="0">
                <a:solidFill>
                  <a:srgbClr val="12263D"/>
                </a:solidFill>
                <a:latin typeface="Calibri"/>
                <a:ea typeface="Calibri"/>
                <a:cs typeface="Calibri"/>
              </a:defRPr>
            </a:pPr>
            <a:endParaRPr lang="en-US" sz="2400" b="0" dirty="0">
              <a:solidFill>
                <a:srgbClr val="12263D"/>
              </a:solidFill>
              <a:latin typeface="Calibri"/>
              <a:ea typeface="Calibri"/>
              <a:cs typeface="Calibri"/>
            </a:endParaRPr>
          </a:p>
        </p:txBody>
      </p:sp>
      <p:sp>
        <p:nvSpPr>
          <p:cNvPr id="15" name="02">
            <a:extLst>
              <a:ext uri="{FF2B5EF4-FFF2-40B4-BE49-F238E27FC236}">
                <a16:creationId xmlns:a16="http://schemas.microsoft.com/office/drawing/2014/main" id="{DCC6E290-5512-4ED7-9F8C-A5C8A0E4CA4E}"/>
              </a:ext>
            </a:extLst>
          </p:cNvPr>
          <p:cNvSpPr>
            <a:spLocks noGrp="1"/>
          </p:cNvSpPr>
          <p:nvPr/>
        </p:nvSpPr>
        <p:spPr>
          <a:xfrm>
            <a:off x="666750" y="4171950"/>
            <a:ext cx="476250" cy="361950"/>
          </a:xfrm>
          <a:prstGeom prst="rect">
            <a:avLst/>
          </a:prstGeom>
          <a:noFill/>
          <a:ln w="0">
            <a:noFill/>
          </a:ln>
        </p:spPr>
        <p:txBody>
          <a:bodyPr wrap="square" lIns="0" tIns="0" rIns="0" bIns="0" anchor="t">
            <a:noAutofit/>
          </a:bodyPr>
          <a:lstStyle/>
          <a:p>
            <a:pPr>
              <a:defRPr sz="1600" b="1">
                <a:solidFill>
                  <a:srgbClr val="0067A6"/>
                </a:solidFill>
                <a:latin typeface="Calibri"/>
                <a:ea typeface="Calibri"/>
                <a:cs typeface="Calibri"/>
              </a:defRPr>
            </a:pPr>
            <a:r>
              <a:rPr sz="2400" b="1">
                <a:solidFill>
                  <a:srgbClr val="0067A6"/>
                </a:solidFill>
                <a:latin typeface="Calibri"/>
                <a:ea typeface="Calibri"/>
                <a:cs typeface="Calibri"/>
              </a:rPr>
              <a:t>02</a:t>
            </a:r>
          </a:p>
        </p:txBody>
      </p:sp>
      <p:sp>
        <p:nvSpPr>
          <p:cNvPr id="16" name="[What current approaches leave unresolved]">
            <a:extLst>
              <a:ext uri="{FF2B5EF4-FFF2-40B4-BE49-F238E27FC236}">
                <a16:creationId xmlns:a16="http://schemas.microsoft.com/office/drawing/2014/main" id="{045FA6C5-696F-43E3-B9BB-1769B7FD4144}"/>
              </a:ext>
            </a:extLst>
          </p:cNvPr>
          <p:cNvSpPr>
            <a:spLocks noGrp="1"/>
          </p:cNvSpPr>
          <p:nvPr/>
        </p:nvSpPr>
        <p:spPr>
          <a:xfrm>
            <a:off x="1371600" y="4171950"/>
            <a:ext cx="9867900" cy="742950"/>
          </a:xfrm>
          <a:prstGeom prst="rect">
            <a:avLst/>
          </a:prstGeom>
          <a:noFill/>
          <a:ln w="0">
            <a:noFill/>
          </a:ln>
        </p:spPr>
        <p:txBody>
          <a:bodyPr wrap="square" lIns="0" tIns="0" rIns="0" bIns="0" anchor="t">
            <a:noAutofit/>
          </a:bodyPr>
          <a:lstStyle/>
          <a:p>
            <a:r>
              <a:rPr lang="en-US" sz="2400" dirty="0"/>
              <a:t>Reducing payload size does not necessarily improve task success, particularly when the receiver requires multiple semantic elements.</a:t>
            </a:r>
          </a:p>
        </p:txBody>
      </p:sp>
      <p:sp>
        <p:nvSpPr>
          <p:cNvPr id="17" name="03">
            <a:extLst>
              <a:ext uri="{FF2B5EF4-FFF2-40B4-BE49-F238E27FC236}">
                <a16:creationId xmlns:a16="http://schemas.microsoft.com/office/drawing/2014/main" id="{A490AF51-4CB0-4BD7-8757-142E737F3E62}"/>
              </a:ext>
            </a:extLst>
          </p:cNvPr>
          <p:cNvSpPr>
            <a:spLocks noGrp="1"/>
          </p:cNvSpPr>
          <p:nvPr/>
        </p:nvSpPr>
        <p:spPr>
          <a:xfrm>
            <a:off x="666750" y="5086350"/>
            <a:ext cx="476250" cy="361950"/>
          </a:xfrm>
          <a:prstGeom prst="rect">
            <a:avLst/>
          </a:prstGeom>
          <a:noFill/>
          <a:ln w="0">
            <a:noFill/>
          </a:ln>
        </p:spPr>
        <p:txBody>
          <a:bodyPr wrap="square" lIns="0" tIns="0" rIns="0" bIns="0" anchor="t">
            <a:noAutofit/>
          </a:bodyPr>
          <a:lstStyle/>
          <a:p>
            <a:pPr>
              <a:defRPr sz="1600" b="1">
                <a:solidFill>
                  <a:srgbClr val="0067A6"/>
                </a:solidFill>
                <a:latin typeface="Calibri"/>
                <a:ea typeface="Calibri"/>
                <a:cs typeface="Calibri"/>
              </a:defRPr>
            </a:pPr>
            <a:r>
              <a:rPr sz="2400" b="1">
                <a:solidFill>
                  <a:srgbClr val="0067A6"/>
                </a:solidFill>
                <a:latin typeface="Calibri"/>
                <a:ea typeface="Calibri"/>
                <a:cs typeface="Calibri"/>
              </a:rPr>
              <a:t>03</a:t>
            </a:r>
          </a:p>
        </p:txBody>
      </p:sp>
      <p:sp>
        <p:nvSpPr>
          <p:cNvPr id="18" name="[Research question or objective]">
            <a:extLst>
              <a:ext uri="{FF2B5EF4-FFF2-40B4-BE49-F238E27FC236}">
                <a16:creationId xmlns:a16="http://schemas.microsoft.com/office/drawing/2014/main" id="{CF9BF64E-50AB-4650-9684-50B84FFC7E64}"/>
              </a:ext>
            </a:extLst>
          </p:cNvPr>
          <p:cNvSpPr>
            <a:spLocks noGrp="1"/>
          </p:cNvSpPr>
          <p:nvPr/>
        </p:nvSpPr>
        <p:spPr>
          <a:xfrm>
            <a:off x="1371600" y="5086350"/>
            <a:ext cx="9867900" cy="742950"/>
          </a:xfrm>
          <a:prstGeom prst="rect">
            <a:avLst/>
          </a:prstGeom>
          <a:noFill/>
          <a:ln w="0">
            <a:noFill/>
          </a:ln>
        </p:spPr>
        <p:txBody>
          <a:bodyPr wrap="square" lIns="0" tIns="0" rIns="0" bIns="0" anchor="t">
            <a:noAutofit/>
          </a:bodyPr>
          <a:lstStyle/>
          <a:p>
            <a:r>
              <a:rPr lang="en-US" sz="2400" dirty="0"/>
              <a:t>To compare conventional and simplified semantic communication in terms of payload size and task success rate under different packet-loss conditions.</a:t>
            </a:r>
          </a:p>
        </p:txBody>
      </p:sp>
      <p:pic>
        <p:nvPicPr>
          <p:cNvPr id="3" name="Picture 2" descr="image.png">
            <a:extLst>
              <a:ext uri="{FF2B5EF4-FFF2-40B4-BE49-F238E27FC236}">
                <a16:creationId xmlns:a16="http://schemas.microsoft.com/office/drawing/2014/main" id="{C53EED49-5548-6B5D-C6D6-EC7728D5708E}"/>
              </a:ext>
            </a:extLst>
          </p:cNvPr>
          <p:cNvPicPr>
            <a:picLocks noChangeAspect="1"/>
          </p:cNvPicPr>
          <p:nvPr/>
        </p:nvPicPr>
        <p:blipFill>
          <a:blip r:embed="rId5"/>
          <a:stretch>
            <a:fillRect/>
          </a:stretch>
        </p:blipFill>
        <p:spPr>
          <a:xfrm>
            <a:off x="10739437" y="144463"/>
            <a:ext cx="1438275" cy="1409700"/>
          </a:xfrm>
          <a:prstGeom prst="rect">
            <a:avLst/>
          </a:prstGeom>
        </p:spPr>
      </p:pic>
      <p:pic>
        <p:nvPicPr>
          <p:cNvPr id="2" name="Audio 1">
            <a:hlinkClick r:id="" action="ppaction://media"/>
            <a:extLst>
              <a:ext uri="{FF2B5EF4-FFF2-40B4-BE49-F238E27FC236}">
                <a16:creationId xmlns:a16="http://schemas.microsoft.com/office/drawing/2014/main" id="{5C2334A3-FF08-2654-F986-F4C16C105788}"/>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325000" t="-160938" r="-325000" b="-160938"/>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3261465408"/>
      </p:ext>
    </p:extLst>
  </p:cSld>
  <p:clrMapOvr>
    <a:masterClrMapping/>
  </p:clrMapOvr>
  <mc:AlternateContent xmlns:mc="http://schemas.openxmlformats.org/markup-compatibility/2006">
    <mc:Choice xmlns:p14="http://schemas.microsoft.com/office/powerpoint/2010/main" Requires="p14">
      <p:transition spd="slow" p14:dur="2000" advTm="47723"/>
    </mc:Choice>
    <mc:Fallback>
      <p:transition spd="slow" advTm="4772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lated work and research gap">
            <a:extLst>
              <a:ext uri="{FF2B5EF4-FFF2-40B4-BE49-F238E27FC236}">
                <a16:creationId xmlns:a16="http://schemas.microsoft.com/office/drawing/2014/main" id="{57D82E18-8D40-41E5-9CA4-A91C27DFE850}"/>
              </a:ext>
            </a:extLst>
          </p:cNvPr>
          <p:cNvSpPr>
            <a:spLocks noGrp="1"/>
          </p:cNvSpPr>
          <p:nvPr/>
        </p:nvSpPr>
        <p:spPr>
          <a:xfrm>
            <a:off x="647700" y="1181100"/>
            <a:ext cx="10810875" cy="628650"/>
          </a:xfrm>
          <a:prstGeom prst="rect">
            <a:avLst/>
          </a:prstGeom>
          <a:noFill/>
          <a:ln w="0">
            <a:noFill/>
          </a:ln>
        </p:spPr>
        <p:txBody>
          <a:bodyPr wrap="square" lIns="0" tIns="0" rIns="0" bIns="0" anchor="t">
            <a:noAutofit/>
          </a:bodyPr>
          <a:lstStyle/>
          <a:p>
            <a:pPr>
              <a:defRPr sz="2900" b="1">
                <a:solidFill>
                  <a:srgbClr val="12263D"/>
                </a:solidFill>
                <a:latin typeface="Calibri"/>
                <a:ea typeface="Calibri"/>
                <a:cs typeface="Calibri"/>
              </a:defRPr>
            </a:pPr>
            <a:r>
              <a:rPr sz="3600" b="1" dirty="0">
                <a:solidFill>
                  <a:srgbClr val="12263D"/>
                </a:solidFill>
                <a:latin typeface="Calibri"/>
                <a:ea typeface="Calibri"/>
                <a:cs typeface="Calibri"/>
              </a:rPr>
              <a:t>Related </a:t>
            </a:r>
            <a:r>
              <a:rPr lang="en-US" sz="3600" b="1" dirty="0">
                <a:solidFill>
                  <a:srgbClr val="12263D"/>
                </a:solidFill>
                <a:latin typeface="Calibri"/>
                <a:ea typeface="Calibri"/>
                <a:cs typeface="Calibri"/>
              </a:rPr>
              <a:t>W</a:t>
            </a:r>
            <a:r>
              <a:rPr sz="3600" b="1" dirty="0">
                <a:solidFill>
                  <a:srgbClr val="12263D"/>
                </a:solidFill>
                <a:latin typeface="Calibri"/>
                <a:ea typeface="Calibri"/>
                <a:cs typeface="Calibri"/>
              </a:rPr>
              <a:t>ork and </a:t>
            </a:r>
            <a:r>
              <a:rPr lang="en-US" sz="3600" b="1" dirty="0">
                <a:solidFill>
                  <a:srgbClr val="12263D"/>
                </a:solidFill>
                <a:latin typeface="Calibri"/>
                <a:ea typeface="Calibri"/>
                <a:cs typeface="Calibri"/>
              </a:rPr>
              <a:t>R</a:t>
            </a:r>
            <a:r>
              <a:rPr sz="3600" b="1" dirty="0">
                <a:solidFill>
                  <a:srgbClr val="12263D"/>
                </a:solidFill>
                <a:latin typeface="Calibri"/>
                <a:ea typeface="Calibri"/>
                <a:cs typeface="Calibri"/>
              </a:rPr>
              <a:t>esearch </a:t>
            </a:r>
            <a:r>
              <a:rPr lang="en-US" sz="3600" b="1" dirty="0">
                <a:solidFill>
                  <a:srgbClr val="12263D"/>
                </a:solidFill>
                <a:latin typeface="Calibri"/>
                <a:ea typeface="Calibri"/>
                <a:cs typeface="Calibri"/>
              </a:rPr>
              <a:t>G</a:t>
            </a:r>
            <a:r>
              <a:rPr sz="3600" b="1" dirty="0">
                <a:solidFill>
                  <a:srgbClr val="12263D"/>
                </a:solidFill>
                <a:latin typeface="Calibri"/>
                <a:ea typeface="Calibri"/>
                <a:cs typeface="Calibri"/>
              </a:rPr>
              <a:t>ap</a:t>
            </a:r>
          </a:p>
        </p:txBody>
      </p:sp>
      <p:sp>
        <p:nvSpPr>
          <p:cNvPr id="7" name="Straight Connector 6">
            <a:extLst>
              <a:ext uri="{FF2B5EF4-FFF2-40B4-BE49-F238E27FC236}">
                <a16:creationId xmlns:a16="http://schemas.microsoft.com/office/drawing/2014/main" id="{BF660B27-9A11-445F-9A8D-5581E907753D}"/>
              </a:ext>
            </a:extLst>
          </p:cNvPr>
          <p:cNvSpPr>
            <a:spLocks noGrp="1"/>
          </p:cNvSpPr>
          <p:nvPr/>
        </p:nvSpPr>
        <p:spPr>
          <a:xfrm>
            <a:off x="647700" y="1933575"/>
            <a:ext cx="10896600" cy="0"/>
          </a:xfrm>
          <a:prstGeom prst="line">
            <a:avLst/>
          </a:prstGeom>
          <a:noFill/>
          <a:ln w="9525">
            <a:solidFill>
              <a:srgbClr val="D7E1E9"/>
            </a:solidFill>
          </a:ln>
        </p:spPr>
        <p:txBody>
          <a:bodyPr/>
          <a:lstStyle/>
          <a:p>
            <a:endParaRPr lang="en-GB" sz="2400"/>
          </a:p>
        </p:txBody>
      </p:sp>
      <p:sp>
        <p:nvSpPr>
          <p:cNvPr id="8" name="Straight Connector 7">
            <a:extLst>
              <a:ext uri="{FF2B5EF4-FFF2-40B4-BE49-F238E27FC236}">
                <a16:creationId xmlns:a16="http://schemas.microsoft.com/office/drawing/2014/main" id="{F8F6BD15-7050-403B-99AD-AC4B36B67C68}"/>
              </a:ext>
            </a:extLst>
          </p:cNvPr>
          <p:cNvSpPr>
            <a:spLocks noGrp="1"/>
          </p:cNvSpPr>
          <p:nvPr/>
        </p:nvSpPr>
        <p:spPr>
          <a:xfrm>
            <a:off x="647700" y="6238875"/>
            <a:ext cx="10896600" cy="0"/>
          </a:xfrm>
          <a:prstGeom prst="line">
            <a:avLst/>
          </a:prstGeom>
          <a:noFill/>
          <a:ln w="9525">
            <a:solidFill>
              <a:srgbClr val="D7E1E9"/>
            </a:solidFill>
          </a:ln>
        </p:spPr>
        <p:txBody>
          <a:bodyPr/>
          <a:lstStyle/>
          <a:p>
            <a:endParaRPr lang="en-GB" sz="2000"/>
          </a:p>
        </p:txBody>
      </p:sp>
      <p:sp>
        <p:nvSpPr>
          <p:cNvPr id="9" name="[Short paper title]">
            <a:extLst>
              <a:ext uri="{FF2B5EF4-FFF2-40B4-BE49-F238E27FC236}">
                <a16:creationId xmlns:a16="http://schemas.microsoft.com/office/drawing/2014/main" id="{B65C4C53-804D-469A-B6B0-D12525136FD0}"/>
              </a:ext>
            </a:extLst>
          </p:cNvPr>
          <p:cNvSpPr>
            <a:spLocks noGrp="1"/>
          </p:cNvSpPr>
          <p:nvPr/>
        </p:nvSpPr>
        <p:spPr>
          <a:xfrm>
            <a:off x="647700" y="6430736"/>
            <a:ext cx="6429375" cy="296634"/>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r>
              <a:rPr lang="en-US" sz="2000" dirty="0">
                <a:solidFill>
                  <a:srgbClr val="627185"/>
                </a:solidFill>
                <a:latin typeface="Calibri"/>
                <a:ea typeface="Calibri"/>
                <a:cs typeface="Calibri"/>
              </a:rPr>
              <a:t> Semantic Communication for 6G</a:t>
            </a:r>
          </a:p>
        </p:txBody>
      </p:sp>
      <p:sp>
        <p:nvSpPr>
          <p:cNvPr id="10" name="Paper ID: [000]">
            <a:extLst>
              <a:ext uri="{FF2B5EF4-FFF2-40B4-BE49-F238E27FC236}">
                <a16:creationId xmlns:a16="http://schemas.microsoft.com/office/drawing/2014/main" id="{B5CF3899-A4C8-4D0E-8EF1-DB96B3DAE0BE}"/>
              </a:ext>
            </a:extLst>
          </p:cNvPr>
          <p:cNvSpPr>
            <a:spLocks noGrp="1"/>
          </p:cNvSpPr>
          <p:nvPr/>
        </p:nvSpPr>
        <p:spPr>
          <a:xfrm>
            <a:off x="8905875" y="6419850"/>
            <a:ext cx="2000250"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endParaRPr sz="2000" b="0" dirty="0">
              <a:solidFill>
                <a:srgbClr val="627185"/>
              </a:solidFill>
              <a:latin typeface="Calibri"/>
              <a:ea typeface="Calibri"/>
              <a:cs typeface="Calibri"/>
            </a:endParaRPr>
          </a:p>
        </p:txBody>
      </p:sp>
      <p:sp>
        <p:nvSpPr>
          <p:cNvPr id="11" name="04">
            <a:extLst>
              <a:ext uri="{FF2B5EF4-FFF2-40B4-BE49-F238E27FC236}">
                <a16:creationId xmlns:a16="http://schemas.microsoft.com/office/drawing/2014/main" id="{1B9397B8-4339-4F58-BA93-B67E2C53ABB3}"/>
              </a:ext>
            </a:extLst>
          </p:cNvPr>
          <p:cNvSpPr>
            <a:spLocks noGrp="1"/>
          </p:cNvSpPr>
          <p:nvPr/>
        </p:nvSpPr>
        <p:spPr>
          <a:xfrm>
            <a:off x="11125200" y="6419850"/>
            <a:ext cx="419100" cy="219075"/>
          </a:xfrm>
          <a:prstGeom prst="rect">
            <a:avLst/>
          </a:prstGeom>
          <a:noFill/>
          <a:ln w="0">
            <a:noFill/>
          </a:ln>
        </p:spPr>
        <p:txBody>
          <a:bodyPr wrap="square" lIns="0" tIns="0" rIns="0" bIns="0" anchor="t">
            <a:noAutofit/>
          </a:bodyPr>
          <a:lstStyle/>
          <a:p>
            <a:pPr>
              <a:defRPr sz="1000" b="1">
                <a:solidFill>
                  <a:srgbClr val="0067A6"/>
                </a:solidFill>
                <a:latin typeface="Calibri"/>
                <a:ea typeface="Calibri"/>
                <a:cs typeface="Calibri"/>
              </a:defRPr>
            </a:pPr>
            <a:r>
              <a:rPr sz="2000" b="1">
                <a:solidFill>
                  <a:srgbClr val="0067A6"/>
                </a:solidFill>
                <a:latin typeface="Calibri"/>
                <a:ea typeface="Calibri"/>
                <a:cs typeface="Calibri"/>
              </a:rPr>
              <a:t>04</a:t>
            </a:r>
          </a:p>
        </p:txBody>
      </p:sp>
      <p:graphicFrame>
        <p:nvGraphicFramePr>
          <p:cNvPr id="26" name="Table 25"/>
          <p:cNvGraphicFramePr/>
          <p:nvPr>
            <p:extLst>
              <p:ext uri="{D42A27DB-BD31-4B8C-83A1-F6EECF244321}">
                <p14:modId xmlns:p14="http://schemas.microsoft.com/office/powerpoint/2010/main" val="3758451874"/>
              </p:ext>
            </p:extLst>
          </p:nvPr>
        </p:nvGraphicFramePr>
        <p:xfrm>
          <a:off x="598714" y="2133600"/>
          <a:ext cx="10888436" cy="2986089"/>
        </p:xfrm>
        <a:graphic>
          <a:graphicData uri="http://schemas.openxmlformats.org/drawingml/2006/table">
            <a:tbl>
              <a:tblPr/>
              <a:tblGrid>
                <a:gridCol w="2735036">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152900">
                  <a:extLst>
                    <a:ext uri="{9D8B030D-6E8A-4147-A177-3AD203B41FA5}">
                      <a16:colId xmlns:a16="http://schemas.microsoft.com/office/drawing/2014/main" val="20002"/>
                    </a:ext>
                  </a:extLst>
                </a:gridCol>
              </a:tblGrid>
              <a:tr h="690563">
                <a:tc>
                  <a:txBody>
                    <a:bodyPr/>
                    <a:lstStyle/>
                    <a:p>
                      <a:r>
                        <a:rPr sz="1600" b="1" dirty="0">
                          <a:solidFill>
                            <a:srgbClr val="FFFFFF"/>
                          </a:solidFill>
                          <a:latin typeface="Calibri"/>
                          <a:ea typeface="Calibri"/>
                          <a:cs typeface="Calibri"/>
                        </a:rPr>
                        <a:t>Study / approach</a:t>
                      </a:r>
                    </a:p>
                  </a:txBody>
                  <a:tcPr anchor="ctr">
                    <a:solidFill>
                      <a:srgbClr val="0067A6"/>
                    </a:solidFill>
                  </a:tcPr>
                </a:tc>
                <a:tc>
                  <a:txBody>
                    <a:bodyPr/>
                    <a:lstStyle/>
                    <a:p>
                      <a:r>
                        <a:rPr sz="1600" b="1">
                          <a:solidFill>
                            <a:srgbClr val="FFFFFF"/>
                          </a:solidFill>
                          <a:latin typeface="Calibri"/>
                          <a:ea typeface="Calibri"/>
                          <a:cs typeface="Calibri"/>
                        </a:rPr>
                        <a:t>Key idea</a:t>
                      </a:r>
                    </a:p>
                  </a:txBody>
                  <a:tcPr anchor="ctr">
                    <a:solidFill>
                      <a:srgbClr val="0067A6"/>
                    </a:solidFill>
                  </a:tcPr>
                </a:tc>
                <a:tc>
                  <a:txBody>
                    <a:bodyPr/>
                    <a:lstStyle/>
                    <a:p>
                      <a:r>
                        <a:rPr sz="1600" b="1">
                          <a:solidFill>
                            <a:srgbClr val="FFFFFF"/>
                          </a:solidFill>
                          <a:latin typeface="Calibri"/>
                          <a:ea typeface="Calibri"/>
                          <a:cs typeface="Calibri"/>
                        </a:rPr>
                        <a:t>Relevant limitation</a:t>
                      </a:r>
                    </a:p>
                  </a:txBody>
                  <a:tcPr anchor="ctr">
                    <a:solidFill>
                      <a:srgbClr val="0067A6"/>
                    </a:solidFill>
                  </a:tcPr>
                </a:tc>
                <a:extLst>
                  <a:ext uri="{0D108BD9-81ED-4DB2-BD59-A6C34878D82A}">
                    <a16:rowId xmlns:a16="http://schemas.microsoft.com/office/drawing/2014/main" val="10000"/>
                  </a:ext>
                </a:extLst>
              </a:tr>
              <a:tr h="690563">
                <a:tc>
                  <a:txBody>
                    <a:bodyPr/>
                    <a:lstStyle/>
                    <a:p>
                      <a:pPr>
                        <a:buNone/>
                      </a:pPr>
                      <a:r>
                        <a:rPr lang="en-US" dirty="0" err="1"/>
                        <a:t>ViT</a:t>
                      </a:r>
                      <a:r>
                        <a:rPr lang="en-US" dirty="0"/>
                        <a:t>-Based Semantic Communications (2025)</a:t>
                      </a:r>
                    </a:p>
                  </a:txBody>
                  <a:tcPr anchor="ctr">
                    <a:solidFill>
                      <a:srgbClr val="FFFFFF"/>
                    </a:solidFill>
                  </a:tcPr>
                </a:tc>
                <a:tc>
                  <a:txBody>
                    <a:bodyPr/>
                    <a:lstStyle/>
                    <a:p>
                      <a:pPr>
                        <a:buNone/>
                      </a:pPr>
                      <a:r>
                        <a:rPr lang="en-US" dirty="0"/>
                        <a:t>Uses a Vision Transformer to encode and reconstruct images</a:t>
                      </a:r>
                    </a:p>
                  </a:txBody>
                  <a:tcPr anchor="ctr">
                    <a:solidFill>
                      <a:srgbClr val="FFFFFF"/>
                    </a:solidFill>
                  </a:tcPr>
                </a:tc>
                <a:tc>
                  <a:txBody>
                    <a:bodyPr/>
                    <a:lstStyle/>
                    <a:p>
                      <a:pPr>
                        <a:buNone/>
                      </a:pPr>
                      <a:r>
                        <a:rPr lang="en-US" dirty="0"/>
                        <a:t>Focuses on image reconstruction, not emergency-message packet evaluation</a:t>
                      </a:r>
                    </a:p>
                  </a:txBody>
                  <a:tcPr anchor="ctr">
                    <a:solidFill>
                      <a:srgbClr val="FFFFFF"/>
                    </a:solidFill>
                  </a:tcPr>
                </a:tc>
                <a:extLst>
                  <a:ext uri="{0D108BD9-81ED-4DB2-BD59-A6C34878D82A}">
                    <a16:rowId xmlns:a16="http://schemas.microsoft.com/office/drawing/2014/main" val="10001"/>
                  </a:ext>
                </a:extLst>
              </a:tr>
              <a:tr h="690563">
                <a:tc>
                  <a:txBody>
                    <a:bodyPr/>
                    <a:lstStyle/>
                    <a:p>
                      <a:pPr>
                        <a:buNone/>
                      </a:pPr>
                      <a:r>
                        <a:rPr lang="en-US" dirty="0"/>
                        <a:t>Explicit Semantic-Base-Empowered Communications (2026)</a:t>
                      </a:r>
                    </a:p>
                  </a:txBody>
                  <a:tcPr anchor="ctr">
                    <a:solidFill>
                      <a:srgbClr val="FFFFFF"/>
                    </a:solidFill>
                  </a:tcPr>
                </a:tc>
                <a:tc>
                  <a:txBody>
                    <a:bodyPr/>
                    <a:lstStyle/>
                    <a:p>
                      <a:r>
                        <a:rPr lang="en-US" sz="1800" dirty="0"/>
                        <a:t>Uses semantic bases, a knowledge base, and unequal error protection.</a:t>
                      </a:r>
                      <a:endParaRPr sz="1600" b="0" dirty="0">
                        <a:solidFill>
                          <a:srgbClr val="12263D"/>
                        </a:solidFill>
                        <a:latin typeface="Calibri"/>
                        <a:ea typeface="Calibri"/>
                        <a:cs typeface="Calibri"/>
                      </a:endParaRPr>
                    </a:p>
                  </a:txBody>
                  <a:tcPr anchor="ctr">
                    <a:solidFill>
                      <a:srgbClr val="FFFFFF"/>
                    </a:solidFill>
                  </a:tcPr>
                </a:tc>
                <a:tc>
                  <a:txBody>
                    <a:bodyPr/>
                    <a:lstStyle/>
                    <a:p>
                      <a:r>
                        <a:rPr lang="en-US" sz="1800" dirty="0"/>
                        <a:t>More complex than our keyword-based simulation</a:t>
                      </a:r>
                      <a:endParaRPr sz="1600" b="0" dirty="0">
                        <a:solidFill>
                          <a:srgbClr val="12263D"/>
                        </a:solidFill>
                        <a:latin typeface="Calibri"/>
                        <a:ea typeface="Calibri"/>
                        <a:cs typeface="Calibri"/>
                      </a:endParaRPr>
                    </a:p>
                  </a:txBody>
                  <a:tcPr anchor="ctr">
                    <a:solidFill>
                      <a:srgbClr val="FFFFFF"/>
                    </a:solidFill>
                  </a:tcPr>
                </a:tc>
                <a:extLst>
                  <a:ext uri="{0D108BD9-81ED-4DB2-BD59-A6C34878D82A}">
                    <a16:rowId xmlns:a16="http://schemas.microsoft.com/office/drawing/2014/main" val="10002"/>
                  </a:ext>
                </a:extLst>
              </a:tr>
              <a:tr h="690563">
                <a:tc>
                  <a:txBody>
                    <a:bodyPr/>
                    <a:lstStyle/>
                    <a:p>
                      <a:r>
                        <a:rPr lang="en-US" sz="1800" dirty="0"/>
                        <a:t>Generative Feature Imputing (2026)</a:t>
                      </a:r>
                      <a:endParaRPr sz="1600" b="0" dirty="0">
                        <a:solidFill>
                          <a:srgbClr val="12263D"/>
                        </a:solidFill>
                        <a:latin typeface="Calibri"/>
                        <a:ea typeface="Calibri"/>
                        <a:cs typeface="Calibri"/>
                      </a:endParaRPr>
                    </a:p>
                  </a:txBody>
                  <a:tcPr anchor="ctr">
                    <a:solidFill>
                      <a:srgbClr val="FFFFFF"/>
                    </a:solidFill>
                  </a:tcPr>
                </a:tc>
                <a:tc>
                  <a:txBody>
                    <a:bodyPr/>
                    <a:lstStyle/>
                    <a:p>
                      <a:r>
                        <a:rPr lang="en-US" sz="1800" dirty="0"/>
                        <a:t>Uses generative recovery and semantic-aware power allocation</a:t>
                      </a:r>
                      <a:endParaRPr sz="1600" b="0" dirty="0">
                        <a:solidFill>
                          <a:srgbClr val="12263D"/>
                        </a:solidFill>
                        <a:latin typeface="Calibri"/>
                        <a:ea typeface="Calibri"/>
                        <a:cs typeface="Calibri"/>
                      </a:endParaRPr>
                    </a:p>
                  </a:txBody>
                  <a:tcPr anchor="ctr">
                    <a:solidFill>
                      <a:srgbClr val="FFFFFF"/>
                    </a:solidFill>
                  </a:tcPr>
                </a:tc>
                <a:tc>
                  <a:txBody>
                    <a:bodyPr/>
                    <a:lstStyle/>
                    <a:p>
                      <a:r>
                        <a:rPr lang="en-US" sz="1800" dirty="0"/>
                        <a:t>Requires a more advanced feature-based system</a:t>
                      </a:r>
                      <a:endParaRPr sz="1600" b="0" dirty="0">
                        <a:solidFill>
                          <a:srgbClr val="12263D"/>
                        </a:solidFill>
                        <a:latin typeface="Calibri"/>
                        <a:ea typeface="Calibri"/>
                        <a:cs typeface="Calibri"/>
                      </a:endParaRP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3" name="Research gap">
            <a:extLst>
              <a:ext uri="{FF2B5EF4-FFF2-40B4-BE49-F238E27FC236}">
                <a16:creationId xmlns:a16="http://schemas.microsoft.com/office/drawing/2014/main" id="{19AEF7C9-7086-4D65-9F07-D2AFEB82B08B}"/>
              </a:ext>
            </a:extLst>
          </p:cNvPr>
          <p:cNvSpPr>
            <a:spLocks noGrp="1"/>
          </p:cNvSpPr>
          <p:nvPr/>
        </p:nvSpPr>
        <p:spPr>
          <a:xfrm>
            <a:off x="666750" y="5219700"/>
            <a:ext cx="1905000" cy="333375"/>
          </a:xfrm>
          <a:prstGeom prst="rect">
            <a:avLst/>
          </a:prstGeom>
          <a:noFill/>
          <a:ln w="0">
            <a:noFill/>
          </a:ln>
        </p:spPr>
        <p:txBody>
          <a:bodyPr wrap="square" lIns="0" tIns="0" rIns="0" bIns="0" anchor="t">
            <a:noAutofit/>
          </a:bodyPr>
          <a:lstStyle/>
          <a:p>
            <a:pPr>
              <a:defRPr sz="1600" b="1">
                <a:solidFill>
                  <a:srgbClr val="0067A6"/>
                </a:solidFill>
                <a:latin typeface="Calibri"/>
                <a:ea typeface="Calibri"/>
                <a:cs typeface="Calibri"/>
              </a:defRPr>
            </a:pPr>
            <a:r>
              <a:rPr sz="2400" b="1">
                <a:solidFill>
                  <a:srgbClr val="0067A6"/>
                </a:solidFill>
                <a:latin typeface="Calibri"/>
                <a:ea typeface="Calibri"/>
                <a:cs typeface="Calibri"/>
              </a:rPr>
              <a:t>Research gap</a:t>
            </a:r>
          </a:p>
        </p:txBody>
      </p:sp>
      <p:sp>
        <p:nvSpPr>
          <p:cNvPr id="14" name="[The specific gap addressed by this paper]">
            <a:extLst>
              <a:ext uri="{FF2B5EF4-FFF2-40B4-BE49-F238E27FC236}">
                <a16:creationId xmlns:a16="http://schemas.microsoft.com/office/drawing/2014/main" id="{FACED8AA-5854-4669-99E8-A5574941D3FB}"/>
              </a:ext>
            </a:extLst>
          </p:cNvPr>
          <p:cNvSpPr>
            <a:spLocks noGrp="1"/>
          </p:cNvSpPr>
          <p:nvPr/>
        </p:nvSpPr>
        <p:spPr>
          <a:xfrm>
            <a:off x="2838450" y="5231608"/>
            <a:ext cx="8286750" cy="895348"/>
          </a:xfrm>
          <a:prstGeom prst="rect">
            <a:avLst/>
          </a:prstGeom>
          <a:noFill/>
          <a:ln w="0">
            <a:noFill/>
          </a:ln>
        </p:spPr>
        <p:txBody>
          <a:bodyPr wrap="square" lIns="0" tIns="0" rIns="0" bIns="0" anchor="t">
            <a:noAutofit/>
          </a:bodyPr>
          <a:lstStyle/>
          <a:p>
            <a:pPr algn="just"/>
            <a:r>
              <a:rPr lang="en-US" sz="2000" dirty="0"/>
              <a:t>This demo investigates the trade-off between payload reduction and task success under increasing packet loss in a simple, reproducible message-transmission simulation.</a:t>
            </a:r>
          </a:p>
        </p:txBody>
      </p:sp>
      <p:pic>
        <p:nvPicPr>
          <p:cNvPr id="3" name="Picture 2" descr="image.png">
            <a:extLst>
              <a:ext uri="{FF2B5EF4-FFF2-40B4-BE49-F238E27FC236}">
                <a16:creationId xmlns:a16="http://schemas.microsoft.com/office/drawing/2014/main" id="{24AFF688-F17C-7DAA-9513-DCCEE7A8B8FE}"/>
              </a:ext>
            </a:extLst>
          </p:cNvPr>
          <p:cNvPicPr>
            <a:picLocks noChangeAspect="1"/>
          </p:cNvPicPr>
          <p:nvPr/>
        </p:nvPicPr>
        <p:blipFill>
          <a:blip r:embed="rId5"/>
          <a:stretch>
            <a:fillRect/>
          </a:stretch>
        </p:blipFill>
        <p:spPr>
          <a:xfrm>
            <a:off x="10739437" y="144463"/>
            <a:ext cx="1438275" cy="1409700"/>
          </a:xfrm>
          <a:prstGeom prst="rect">
            <a:avLst/>
          </a:prstGeom>
        </p:spPr>
      </p:pic>
      <p:pic>
        <p:nvPicPr>
          <p:cNvPr id="2" name="Audio 1">
            <a:hlinkClick r:id="" action="ppaction://media"/>
            <a:extLst>
              <a:ext uri="{FF2B5EF4-FFF2-40B4-BE49-F238E27FC236}">
                <a16:creationId xmlns:a16="http://schemas.microsoft.com/office/drawing/2014/main" id="{1D066A23-842E-2887-54F3-58DBF4B8DBCA}"/>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325000" t="-160938" r="-325000" b="-160938"/>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964206191"/>
      </p:ext>
    </p:extLst>
  </p:cSld>
  <p:clrMapOvr>
    <a:masterClrMapping/>
  </p:clrMapOvr>
  <mc:AlternateContent xmlns:mc="http://schemas.openxmlformats.org/markup-compatibility/2006">
    <mc:Choice xmlns:p14="http://schemas.microsoft.com/office/powerpoint/2010/main" Requires="p14">
      <p:transition spd="slow" p14:dur="2000" advTm="77018"/>
    </mc:Choice>
    <mc:Fallback>
      <p:transition spd="slow" advTm="770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Methodology">
            <a:extLst>
              <a:ext uri="{FF2B5EF4-FFF2-40B4-BE49-F238E27FC236}">
                <a16:creationId xmlns:a16="http://schemas.microsoft.com/office/drawing/2014/main" id="{D9838093-28A3-469A-86DC-8414AF07DBA1}"/>
              </a:ext>
            </a:extLst>
          </p:cNvPr>
          <p:cNvSpPr>
            <a:spLocks noGrp="1"/>
          </p:cNvSpPr>
          <p:nvPr/>
        </p:nvSpPr>
        <p:spPr>
          <a:xfrm>
            <a:off x="647700" y="1181100"/>
            <a:ext cx="10810875" cy="628650"/>
          </a:xfrm>
          <a:prstGeom prst="rect">
            <a:avLst/>
          </a:prstGeom>
          <a:noFill/>
          <a:ln w="0">
            <a:noFill/>
          </a:ln>
        </p:spPr>
        <p:txBody>
          <a:bodyPr wrap="square" lIns="0" tIns="0" rIns="0" bIns="0" anchor="t">
            <a:noAutofit/>
          </a:bodyPr>
          <a:lstStyle/>
          <a:p>
            <a:pPr>
              <a:defRPr sz="2900" b="1">
                <a:solidFill>
                  <a:srgbClr val="12263D"/>
                </a:solidFill>
                <a:latin typeface="Calibri"/>
                <a:ea typeface="Calibri"/>
                <a:cs typeface="Calibri"/>
              </a:defRPr>
            </a:pPr>
            <a:r>
              <a:rPr sz="3600" b="1" dirty="0">
                <a:solidFill>
                  <a:srgbClr val="12263D"/>
                </a:solidFill>
                <a:latin typeface="Calibri"/>
                <a:ea typeface="Calibri"/>
                <a:cs typeface="Calibri"/>
              </a:rPr>
              <a:t>Methodology</a:t>
            </a:r>
          </a:p>
        </p:txBody>
      </p:sp>
      <p:sp>
        <p:nvSpPr>
          <p:cNvPr id="7" name="Straight Connector 6">
            <a:extLst>
              <a:ext uri="{FF2B5EF4-FFF2-40B4-BE49-F238E27FC236}">
                <a16:creationId xmlns:a16="http://schemas.microsoft.com/office/drawing/2014/main" id="{348F71E3-A8E2-4E38-BFF6-15332CDF6BA0}"/>
              </a:ext>
            </a:extLst>
          </p:cNvPr>
          <p:cNvSpPr>
            <a:spLocks noGrp="1"/>
          </p:cNvSpPr>
          <p:nvPr/>
        </p:nvSpPr>
        <p:spPr>
          <a:xfrm>
            <a:off x="647700" y="1933575"/>
            <a:ext cx="10896600" cy="0"/>
          </a:xfrm>
          <a:prstGeom prst="line">
            <a:avLst/>
          </a:prstGeom>
          <a:noFill/>
          <a:ln w="9525">
            <a:solidFill>
              <a:srgbClr val="D7E1E9"/>
            </a:solidFill>
          </a:ln>
        </p:spPr>
        <p:txBody>
          <a:bodyPr/>
          <a:lstStyle/>
          <a:p>
            <a:endParaRPr lang="en-GB" sz="2400"/>
          </a:p>
        </p:txBody>
      </p:sp>
      <p:sp>
        <p:nvSpPr>
          <p:cNvPr id="8" name="Straight Connector 7">
            <a:extLst>
              <a:ext uri="{FF2B5EF4-FFF2-40B4-BE49-F238E27FC236}">
                <a16:creationId xmlns:a16="http://schemas.microsoft.com/office/drawing/2014/main" id="{8AA42B6E-D1BD-49ED-9888-0EB994724209}"/>
              </a:ext>
            </a:extLst>
          </p:cNvPr>
          <p:cNvSpPr>
            <a:spLocks noGrp="1"/>
          </p:cNvSpPr>
          <p:nvPr/>
        </p:nvSpPr>
        <p:spPr>
          <a:xfrm>
            <a:off x="647700" y="6238875"/>
            <a:ext cx="10896600" cy="0"/>
          </a:xfrm>
          <a:prstGeom prst="line">
            <a:avLst/>
          </a:prstGeom>
          <a:noFill/>
          <a:ln w="9525">
            <a:solidFill>
              <a:srgbClr val="D7E1E9"/>
            </a:solidFill>
          </a:ln>
        </p:spPr>
        <p:txBody>
          <a:bodyPr/>
          <a:lstStyle/>
          <a:p>
            <a:endParaRPr lang="en-GB" sz="2400"/>
          </a:p>
        </p:txBody>
      </p:sp>
      <p:sp>
        <p:nvSpPr>
          <p:cNvPr id="9" name="[Short paper title]">
            <a:extLst>
              <a:ext uri="{FF2B5EF4-FFF2-40B4-BE49-F238E27FC236}">
                <a16:creationId xmlns:a16="http://schemas.microsoft.com/office/drawing/2014/main" id="{3E257554-737D-4321-9BBF-4560AA9C0D2D}"/>
              </a:ext>
            </a:extLst>
          </p:cNvPr>
          <p:cNvSpPr>
            <a:spLocks noGrp="1"/>
          </p:cNvSpPr>
          <p:nvPr/>
        </p:nvSpPr>
        <p:spPr>
          <a:xfrm>
            <a:off x="647700" y="6419850"/>
            <a:ext cx="6429375" cy="338338"/>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r>
              <a:rPr lang="en-US" sz="2000" dirty="0">
                <a:solidFill>
                  <a:srgbClr val="627185"/>
                </a:solidFill>
                <a:latin typeface="Calibri"/>
                <a:ea typeface="Calibri"/>
                <a:cs typeface="Calibri"/>
              </a:rPr>
              <a:t> Semantic Communication for 6G</a:t>
            </a:r>
          </a:p>
        </p:txBody>
      </p:sp>
      <p:sp>
        <p:nvSpPr>
          <p:cNvPr id="10" name="Paper ID: [000]">
            <a:extLst>
              <a:ext uri="{FF2B5EF4-FFF2-40B4-BE49-F238E27FC236}">
                <a16:creationId xmlns:a16="http://schemas.microsoft.com/office/drawing/2014/main" id="{F5E3DA96-4F9F-4B93-A4FD-93BA14D46803}"/>
              </a:ext>
            </a:extLst>
          </p:cNvPr>
          <p:cNvSpPr>
            <a:spLocks noGrp="1"/>
          </p:cNvSpPr>
          <p:nvPr/>
        </p:nvSpPr>
        <p:spPr>
          <a:xfrm>
            <a:off x="8905875" y="6419850"/>
            <a:ext cx="2000250"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endParaRPr sz="2000" b="0" dirty="0">
              <a:solidFill>
                <a:srgbClr val="627185"/>
              </a:solidFill>
              <a:latin typeface="Calibri"/>
              <a:ea typeface="Calibri"/>
              <a:cs typeface="Calibri"/>
            </a:endParaRPr>
          </a:p>
        </p:txBody>
      </p:sp>
      <p:sp>
        <p:nvSpPr>
          <p:cNvPr id="11" name="06">
            <a:extLst>
              <a:ext uri="{FF2B5EF4-FFF2-40B4-BE49-F238E27FC236}">
                <a16:creationId xmlns:a16="http://schemas.microsoft.com/office/drawing/2014/main" id="{2474A4E2-CB09-484B-8805-66F181800E2B}"/>
              </a:ext>
            </a:extLst>
          </p:cNvPr>
          <p:cNvSpPr>
            <a:spLocks noGrp="1"/>
          </p:cNvSpPr>
          <p:nvPr/>
        </p:nvSpPr>
        <p:spPr>
          <a:xfrm>
            <a:off x="11125200" y="6419850"/>
            <a:ext cx="419100" cy="219075"/>
          </a:xfrm>
          <a:prstGeom prst="rect">
            <a:avLst/>
          </a:prstGeom>
          <a:noFill/>
          <a:ln w="0">
            <a:noFill/>
          </a:ln>
        </p:spPr>
        <p:txBody>
          <a:bodyPr wrap="square" lIns="0" tIns="0" rIns="0" bIns="0" anchor="t">
            <a:noAutofit/>
          </a:bodyPr>
          <a:lstStyle/>
          <a:p>
            <a:pPr>
              <a:defRPr sz="1000" b="1">
                <a:solidFill>
                  <a:srgbClr val="0067A6"/>
                </a:solidFill>
                <a:latin typeface="Calibri"/>
                <a:ea typeface="Calibri"/>
                <a:cs typeface="Calibri"/>
              </a:defRPr>
            </a:pPr>
            <a:r>
              <a:rPr sz="2000" b="1">
                <a:solidFill>
                  <a:srgbClr val="0067A6"/>
                </a:solidFill>
                <a:latin typeface="Calibri"/>
                <a:ea typeface="Calibri"/>
                <a:cs typeface="Calibri"/>
              </a:rPr>
              <a:t>05</a:t>
            </a:r>
          </a:p>
        </p:txBody>
      </p:sp>
      <p:sp>
        <p:nvSpPr>
          <p:cNvPr id="12" name="[Procedure used to construct or apply the solution]">
            <a:extLst>
              <a:ext uri="{FF2B5EF4-FFF2-40B4-BE49-F238E27FC236}">
                <a16:creationId xmlns:a16="http://schemas.microsoft.com/office/drawing/2014/main" id="{7B12E95D-227F-4405-A93A-6ADE78396FD2}"/>
              </a:ext>
            </a:extLst>
          </p:cNvPr>
          <p:cNvSpPr>
            <a:spLocks noGrp="1"/>
          </p:cNvSpPr>
          <p:nvPr/>
        </p:nvSpPr>
        <p:spPr>
          <a:xfrm>
            <a:off x="666750" y="2184400"/>
            <a:ext cx="10795000" cy="406400"/>
          </a:xfrm>
          <a:prstGeom prst="rect">
            <a:avLst/>
          </a:prstGeom>
          <a:noFill/>
          <a:ln w="0">
            <a:noFill/>
          </a:ln>
        </p:spPr>
        <p:txBody>
          <a:bodyPr wrap="square" lIns="0" tIns="0" rIns="0" bIns="0" anchor="t">
            <a:noAutofit/>
          </a:bodyPr>
          <a:lstStyle/>
          <a:p>
            <a:pPr>
              <a:defRPr sz="2150" b="1">
                <a:solidFill>
                  <a:srgbClr val="0067A6"/>
                </a:solidFill>
                <a:latin typeface="Calibri"/>
                <a:ea typeface="Calibri"/>
                <a:cs typeface="Calibri"/>
              </a:defRPr>
            </a:pPr>
            <a:r>
              <a:rPr lang="en-US" sz="2400" b="1" dirty="0">
                <a:solidFill>
                  <a:srgbClr val="0067A6"/>
                </a:solidFill>
                <a:latin typeface="Calibri"/>
                <a:ea typeface="Calibri"/>
                <a:cs typeface="Calibri"/>
              </a:rPr>
              <a:t> </a:t>
            </a:r>
            <a:r>
              <a:rPr lang="en-US" sz="2150" b="1" dirty="0">
                <a:solidFill>
                  <a:srgbClr val="0067A6"/>
                </a:solidFill>
                <a:latin typeface="Calibri"/>
              </a:rPr>
              <a:t>Comparative Machine Learning Framework for Water Potability Prediction</a:t>
            </a:r>
            <a:endParaRPr sz="2400" b="1" dirty="0">
              <a:solidFill>
                <a:srgbClr val="0067A6"/>
              </a:solidFill>
              <a:latin typeface="Calibri"/>
              <a:ea typeface="Calibri"/>
              <a:cs typeface="Calibri"/>
            </a:endParaRPr>
          </a:p>
        </p:txBody>
      </p:sp>
      <p:sp>
        <p:nvSpPr>
          <p:cNvPr id="13" name="01">
            <a:extLst>
              <a:ext uri="{FF2B5EF4-FFF2-40B4-BE49-F238E27FC236}">
                <a16:creationId xmlns:a16="http://schemas.microsoft.com/office/drawing/2014/main" id="{26B7E323-2EB6-42CF-B7EB-7F9001519C42}"/>
              </a:ext>
            </a:extLst>
          </p:cNvPr>
          <p:cNvSpPr>
            <a:spLocks noGrp="1"/>
          </p:cNvSpPr>
          <p:nvPr/>
        </p:nvSpPr>
        <p:spPr>
          <a:xfrm>
            <a:off x="7010400" y="2933700"/>
            <a:ext cx="558800" cy="381000"/>
          </a:xfrm>
          <a:prstGeom prst="rect">
            <a:avLst/>
          </a:prstGeom>
          <a:noFill/>
          <a:ln w="0">
            <a:noFill/>
          </a:ln>
        </p:spPr>
        <p:txBody>
          <a:bodyPr wrap="square" lIns="0" tIns="0" rIns="0" bIns="0" anchor="t">
            <a:noAutofit/>
          </a:bodyPr>
          <a:lstStyle/>
          <a:p>
            <a:pPr>
              <a:defRPr sz="2350" b="1">
                <a:solidFill>
                  <a:srgbClr val="0067A6"/>
                </a:solidFill>
                <a:latin typeface="Calibri"/>
                <a:ea typeface="Calibri"/>
                <a:cs typeface="Calibri"/>
              </a:defRPr>
            </a:pPr>
            <a:r>
              <a:rPr sz="2400" b="1">
                <a:solidFill>
                  <a:srgbClr val="0067A6"/>
                </a:solidFill>
                <a:latin typeface="Calibri"/>
                <a:ea typeface="Calibri"/>
                <a:cs typeface="Calibri"/>
              </a:rPr>
              <a:t>01</a:t>
            </a:r>
          </a:p>
        </p:txBody>
      </p:sp>
      <p:sp>
        <p:nvSpPr>
          <p:cNvPr id="14" name="Straight Connector 13">
            <a:extLst>
              <a:ext uri="{FF2B5EF4-FFF2-40B4-BE49-F238E27FC236}">
                <a16:creationId xmlns:a16="http://schemas.microsoft.com/office/drawing/2014/main" id="{DE6D7F51-FBB2-4D66-B5D6-566DAFD16F12}"/>
              </a:ext>
            </a:extLst>
          </p:cNvPr>
          <p:cNvSpPr>
            <a:spLocks noGrp="1"/>
          </p:cNvSpPr>
          <p:nvPr/>
        </p:nvSpPr>
        <p:spPr>
          <a:xfrm>
            <a:off x="7010400" y="2819400"/>
            <a:ext cx="4445000" cy="0"/>
          </a:xfrm>
          <a:prstGeom prst="line">
            <a:avLst/>
          </a:prstGeom>
          <a:noFill/>
          <a:ln w="9525">
            <a:solidFill>
              <a:srgbClr val="D7E1E9"/>
            </a:solidFill>
          </a:ln>
        </p:spPr>
        <p:txBody>
          <a:bodyPr/>
          <a:lstStyle/>
          <a:p>
            <a:endParaRPr lang="en-GB" sz="2400"/>
          </a:p>
        </p:txBody>
      </p:sp>
      <p:sp>
        <p:nvSpPr>
          <p:cNvPr id="15" name="[Step 1: preparation]">
            <a:extLst>
              <a:ext uri="{FF2B5EF4-FFF2-40B4-BE49-F238E27FC236}">
                <a16:creationId xmlns:a16="http://schemas.microsoft.com/office/drawing/2014/main" id="{41BF3C8D-06B4-4B02-8178-417CD73BB40A}"/>
              </a:ext>
            </a:extLst>
          </p:cNvPr>
          <p:cNvSpPr>
            <a:spLocks noGrp="1"/>
          </p:cNvSpPr>
          <p:nvPr/>
        </p:nvSpPr>
        <p:spPr>
          <a:xfrm>
            <a:off x="7645400" y="2933700"/>
            <a:ext cx="3810000" cy="304800"/>
          </a:xfrm>
          <a:prstGeom prst="rect">
            <a:avLst/>
          </a:prstGeom>
          <a:noFill/>
          <a:ln w="0">
            <a:noFill/>
          </a:ln>
        </p:spPr>
        <p:txBody>
          <a:bodyPr wrap="square" lIns="0" tIns="0" rIns="0" bIns="0" anchor="t">
            <a:noAutofit/>
          </a:bodyPr>
          <a:lstStyle/>
          <a:p>
            <a:pPr>
              <a:defRPr sz="1600" b="1">
                <a:solidFill>
                  <a:srgbClr val="12263D"/>
                </a:solidFill>
                <a:latin typeface="Calibri"/>
                <a:ea typeface="Calibri"/>
                <a:cs typeface="Calibri"/>
              </a:defRPr>
            </a:pPr>
            <a:r>
              <a:rPr sz="2400" b="1" dirty="0">
                <a:solidFill>
                  <a:srgbClr val="12263D"/>
                </a:solidFill>
                <a:latin typeface="Calibri"/>
                <a:ea typeface="Calibri"/>
                <a:cs typeface="Calibri"/>
              </a:rPr>
              <a:t>[Step 1: </a:t>
            </a:r>
            <a:r>
              <a:rPr lang="en-US" sz="2400" b="1" dirty="0">
                <a:solidFill>
                  <a:srgbClr val="12263D"/>
                </a:solidFill>
                <a:latin typeface="Calibri"/>
                <a:ea typeface="Calibri"/>
                <a:cs typeface="Calibri"/>
              </a:rPr>
              <a:t>Data </a:t>
            </a:r>
            <a:r>
              <a:rPr sz="2400" b="1" dirty="0">
                <a:solidFill>
                  <a:srgbClr val="12263D"/>
                </a:solidFill>
                <a:latin typeface="Calibri"/>
                <a:ea typeface="Calibri"/>
                <a:cs typeface="Calibri"/>
              </a:rPr>
              <a:t>preparation]</a:t>
            </a:r>
          </a:p>
        </p:txBody>
      </p:sp>
      <p:sp>
        <p:nvSpPr>
          <p:cNvPr id="16" name="[Input data, assumptions or initialisation]">
            <a:extLst>
              <a:ext uri="{FF2B5EF4-FFF2-40B4-BE49-F238E27FC236}">
                <a16:creationId xmlns:a16="http://schemas.microsoft.com/office/drawing/2014/main" id="{925B1ED1-A51C-4467-ACB7-3883A972703C}"/>
              </a:ext>
            </a:extLst>
          </p:cNvPr>
          <p:cNvSpPr>
            <a:spLocks noGrp="1"/>
          </p:cNvSpPr>
          <p:nvPr/>
        </p:nvSpPr>
        <p:spPr>
          <a:xfrm>
            <a:off x="7645400" y="3305174"/>
            <a:ext cx="3810000" cy="450851"/>
          </a:xfrm>
          <a:prstGeom prst="rect">
            <a:avLst/>
          </a:prstGeom>
          <a:noFill/>
          <a:ln w="0">
            <a:noFill/>
          </a:ln>
        </p:spPr>
        <p:txBody>
          <a:bodyPr wrap="square" lIns="0" tIns="0" rIns="0" bIns="0" anchor="t">
            <a:noAutofit/>
          </a:bodyPr>
          <a:lstStyle/>
          <a:p>
            <a:pPr>
              <a:defRPr sz="1450" b="0">
                <a:solidFill>
                  <a:srgbClr val="627185"/>
                </a:solidFill>
                <a:latin typeface="Calibri"/>
                <a:ea typeface="Calibri"/>
                <a:cs typeface="Calibri"/>
              </a:defRPr>
            </a:pPr>
            <a:r>
              <a:rPr lang="en-US" sz="1600" dirty="0">
                <a:solidFill>
                  <a:srgbClr val="627185"/>
                </a:solidFill>
              </a:rPr>
              <a:t>Semantic representation reduces 536-bit messages to 224 bits using keywords.</a:t>
            </a:r>
            <a:endParaRPr sz="1600" b="0" dirty="0">
              <a:solidFill>
                <a:srgbClr val="627185"/>
              </a:solidFill>
              <a:ea typeface="Calibri" panose="020F0502020204030204" pitchFamily="34" charset="0"/>
              <a:cs typeface="Calibri" panose="020F0502020204030204" pitchFamily="34" charset="0"/>
            </a:endParaRPr>
          </a:p>
        </p:txBody>
      </p:sp>
      <p:sp>
        <p:nvSpPr>
          <p:cNvPr id="17" name="02">
            <a:extLst>
              <a:ext uri="{FF2B5EF4-FFF2-40B4-BE49-F238E27FC236}">
                <a16:creationId xmlns:a16="http://schemas.microsoft.com/office/drawing/2014/main" id="{5834C0C6-D8A3-4651-B196-AA924687C123}"/>
              </a:ext>
            </a:extLst>
          </p:cNvPr>
          <p:cNvSpPr>
            <a:spLocks noGrp="1"/>
          </p:cNvSpPr>
          <p:nvPr/>
        </p:nvSpPr>
        <p:spPr>
          <a:xfrm>
            <a:off x="7010400" y="3975100"/>
            <a:ext cx="558800" cy="381000"/>
          </a:xfrm>
          <a:prstGeom prst="rect">
            <a:avLst/>
          </a:prstGeom>
          <a:noFill/>
          <a:ln w="0">
            <a:noFill/>
          </a:ln>
        </p:spPr>
        <p:txBody>
          <a:bodyPr wrap="square" lIns="0" tIns="0" rIns="0" bIns="0" anchor="t">
            <a:noAutofit/>
          </a:bodyPr>
          <a:lstStyle/>
          <a:p>
            <a:pPr>
              <a:defRPr sz="2350" b="1">
                <a:solidFill>
                  <a:srgbClr val="0067A6"/>
                </a:solidFill>
                <a:latin typeface="Calibri"/>
                <a:ea typeface="Calibri"/>
                <a:cs typeface="Calibri"/>
              </a:defRPr>
            </a:pPr>
            <a:r>
              <a:rPr sz="2400" b="1">
                <a:solidFill>
                  <a:srgbClr val="0067A6"/>
                </a:solidFill>
                <a:latin typeface="Calibri"/>
                <a:ea typeface="Calibri"/>
                <a:cs typeface="Calibri"/>
              </a:rPr>
              <a:t>02</a:t>
            </a:r>
          </a:p>
        </p:txBody>
      </p:sp>
      <p:sp>
        <p:nvSpPr>
          <p:cNvPr id="18" name="Straight Connector 17">
            <a:extLst>
              <a:ext uri="{FF2B5EF4-FFF2-40B4-BE49-F238E27FC236}">
                <a16:creationId xmlns:a16="http://schemas.microsoft.com/office/drawing/2014/main" id="{26E3A72E-1EB8-419C-8A17-0F445E31212B}"/>
              </a:ext>
            </a:extLst>
          </p:cNvPr>
          <p:cNvSpPr>
            <a:spLocks noGrp="1"/>
          </p:cNvSpPr>
          <p:nvPr/>
        </p:nvSpPr>
        <p:spPr>
          <a:xfrm>
            <a:off x="7010400" y="3860800"/>
            <a:ext cx="4445000" cy="0"/>
          </a:xfrm>
          <a:prstGeom prst="line">
            <a:avLst/>
          </a:prstGeom>
          <a:noFill/>
          <a:ln w="9525">
            <a:solidFill>
              <a:srgbClr val="D7E1E9"/>
            </a:solidFill>
          </a:ln>
        </p:spPr>
        <p:txBody>
          <a:bodyPr/>
          <a:lstStyle/>
          <a:p>
            <a:endParaRPr lang="en-GB" sz="2400"/>
          </a:p>
        </p:txBody>
      </p:sp>
      <p:sp>
        <p:nvSpPr>
          <p:cNvPr id="19" name="[Step 2: core procedure]">
            <a:extLst>
              <a:ext uri="{FF2B5EF4-FFF2-40B4-BE49-F238E27FC236}">
                <a16:creationId xmlns:a16="http://schemas.microsoft.com/office/drawing/2014/main" id="{3C7764C0-E006-4040-9BBB-61331DA71D72}"/>
              </a:ext>
            </a:extLst>
          </p:cNvPr>
          <p:cNvSpPr>
            <a:spLocks noGrp="1"/>
          </p:cNvSpPr>
          <p:nvPr/>
        </p:nvSpPr>
        <p:spPr>
          <a:xfrm>
            <a:off x="7645400" y="3975100"/>
            <a:ext cx="3810000" cy="304800"/>
          </a:xfrm>
          <a:prstGeom prst="rect">
            <a:avLst/>
          </a:prstGeom>
          <a:noFill/>
          <a:ln w="0">
            <a:noFill/>
          </a:ln>
        </p:spPr>
        <p:txBody>
          <a:bodyPr wrap="square" lIns="0" tIns="0" rIns="0" bIns="0" anchor="t">
            <a:noAutofit/>
          </a:bodyPr>
          <a:lstStyle/>
          <a:p>
            <a:pPr>
              <a:defRPr sz="1600" b="1">
                <a:solidFill>
                  <a:srgbClr val="12263D"/>
                </a:solidFill>
                <a:latin typeface="Calibri"/>
                <a:ea typeface="Calibri"/>
                <a:cs typeface="Calibri"/>
              </a:defRPr>
            </a:pPr>
            <a:r>
              <a:rPr sz="2400" b="1" dirty="0">
                <a:solidFill>
                  <a:srgbClr val="12263D"/>
                </a:solidFill>
                <a:latin typeface="Calibri"/>
                <a:ea typeface="Calibri"/>
                <a:cs typeface="Calibri"/>
              </a:rPr>
              <a:t>[Step 2: core procedure]</a:t>
            </a:r>
          </a:p>
        </p:txBody>
      </p:sp>
      <p:sp>
        <p:nvSpPr>
          <p:cNvPr id="20" name="[Training, algorithm steps or implementation]">
            <a:extLst>
              <a:ext uri="{FF2B5EF4-FFF2-40B4-BE49-F238E27FC236}">
                <a16:creationId xmlns:a16="http://schemas.microsoft.com/office/drawing/2014/main" id="{AB1575D5-6F24-49E1-8AB9-C7C3B09B0EE5}"/>
              </a:ext>
            </a:extLst>
          </p:cNvPr>
          <p:cNvSpPr>
            <a:spLocks noGrp="1"/>
          </p:cNvSpPr>
          <p:nvPr/>
        </p:nvSpPr>
        <p:spPr>
          <a:xfrm>
            <a:off x="7645400" y="4292600"/>
            <a:ext cx="3810000" cy="533400"/>
          </a:xfrm>
          <a:prstGeom prst="rect">
            <a:avLst/>
          </a:prstGeom>
          <a:noFill/>
          <a:ln w="0">
            <a:noFill/>
          </a:ln>
        </p:spPr>
        <p:txBody>
          <a:bodyPr wrap="square" lIns="0" tIns="0" rIns="0" bIns="0" anchor="t">
            <a:noAutofit/>
          </a:bodyPr>
          <a:lstStyle/>
          <a:p>
            <a:pPr>
              <a:defRPr sz="1450" b="0">
                <a:solidFill>
                  <a:srgbClr val="627185"/>
                </a:solidFill>
                <a:latin typeface="Calibri"/>
                <a:ea typeface="Calibri"/>
                <a:cs typeface="Calibri"/>
              </a:defRPr>
            </a:pPr>
            <a:r>
              <a:rPr lang="en-US" sz="1600" dirty="0">
                <a:solidFill>
                  <a:srgbClr val="627185"/>
                </a:solidFill>
                <a:latin typeface="Calibri"/>
              </a:rPr>
              <a:t>Simulate 20,000 trials per loss rate, comparing conventional and semantic packet delivery.</a:t>
            </a:r>
            <a:endParaRPr sz="2400" b="0" dirty="0">
              <a:solidFill>
                <a:srgbClr val="627185"/>
              </a:solidFill>
              <a:latin typeface="Calibri"/>
              <a:ea typeface="Calibri"/>
              <a:cs typeface="Calibri"/>
            </a:endParaRPr>
          </a:p>
        </p:txBody>
      </p:sp>
      <p:sp>
        <p:nvSpPr>
          <p:cNvPr id="21" name="03">
            <a:extLst>
              <a:ext uri="{FF2B5EF4-FFF2-40B4-BE49-F238E27FC236}">
                <a16:creationId xmlns:a16="http://schemas.microsoft.com/office/drawing/2014/main" id="{F0FE2704-BDCD-4351-BAA3-1301FD0D9C91}"/>
              </a:ext>
            </a:extLst>
          </p:cNvPr>
          <p:cNvSpPr>
            <a:spLocks noGrp="1"/>
          </p:cNvSpPr>
          <p:nvPr/>
        </p:nvSpPr>
        <p:spPr>
          <a:xfrm>
            <a:off x="7010400" y="5016500"/>
            <a:ext cx="558800" cy="381000"/>
          </a:xfrm>
          <a:prstGeom prst="rect">
            <a:avLst/>
          </a:prstGeom>
          <a:noFill/>
          <a:ln w="0">
            <a:noFill/>
          </a:ln>
        </p:spPr>
        <p:txBody>
          <a:bodyPr wrap="square" lIns="0" tIns="0" rIns="0" bIns="0" anchor="t">
            <a:noAutofit/>
          </a:bodyPr>
          <a:lstStyle/>
          <a:p>
            <a:pPr>
              <a:defRPr sz="2350" b="1">
                <a:solidFill>
                  <a:srgbClr val="0067A6"/>
                </a:solidFill>
                <a:latin typeface="Calibri"/>
                <a:ea typeface="Calibri"/>
                <a:cs typeface="Calibri"/>
              </a:defRPr>
            </a:pPr>
            <a:r>
              <a:rPr sz="2400" b="1">
                <a:solidFill>
                  <a:srgbClr val="0067A6"/>
                </a:solidFill>
                <a:latin typeface="Calibri"/>
                <a:ea typeface="Calibri"/>
                <a:cs typeface="Calibri"/>
              </a:rPr>
              <a:t>03</a:t>
            </a:r>
          </a:p>
        </p:txBody>
      </p:sp>
      <p:sp>
        <p:nvSpPr>
          <p:cNvPr id="22" name="Straight Connector 21">
            <a:extLst>
              <a:ext uri="{FF2B5EF4-FFF2-40B4-BE49-F238E27FC236}">
                <a16:creationId xmlns:a16="http://schemas.microsoft.com/office/drawing/2014/main" id="{E037492B-6A52-422D-B7E6-4295A6AFB914}"/>
              </a:ext>
            </a:extLst>
          </p:cNvPr>
          <p:cNvSpPr>
            <a:spLocks noGrp="1"/>
          </p:cNvSpPr>
          <p:nvPr/>
        </p:nvSpPr>
        <p:spPr>
          <a:xfrm>
            <a:off x="7010400" y="4923972"/>
            <a:ext cx="4445000" cy="0"/>
          </a:xfrm>
          <a:prstGeom prst="line">
            <a:avLst/>
          </a:prstGeom>
          <a:noFill/>
          <a:ln w="9525">
            <a:solidFill>
              <a:srgbClr val="D7E1E9"/>
            </a:solidFill>
          </a:ln>
        </p:spPr>
        <p:txBody>
          <a:bodyPr/>
          <a:lstStyle/>
          <a:p>
            <a:endParaRPr lang="en-GB" sz="2400" dirty="0"/>
          </a:p>
        </p:txBody>
      </p:sp>
      <p:sp>
        <p:nvSpPr>
          <p:cNvPr id="23" name="[Step 3: output]">
            <a:extLst>
              <a:ext uri="{FF2B5EF4-FFF2-40B4-BE49-F238E27FC236}">
                <a16:creationId xmlns:a16="http://schemas.microsoft.com/office/drawing/2014/main" id="{CD2F09ED-C248-4EB8-92B3-9BD6961D29D1}"/>
              </a:ext>
            </a:extLst>
          </p:cNvPr>
          <p:cNvSpPr>
            <a:spLocks noGrp="1"/>
          </p:cNvSpPr>
          <p:nvPr/>
        </p:nvSpPr>
        <p:spPr>
          <a:xfrm>
            <a:off x="7645400" y="5058229"/>
            <a:ext cx="3810000" cy="304800"/>
          </a:xfrm>
          <a:prstGeom prst="rect">
            <a:avLst/>
          </a:prstGeom>
          <a:noFill/>
          <a:ln w="0">
            <a:noFill/>
          </a:ln>
        </p:spPr>
        <p:txBody>
          <a:bodyPr wrap="square" lIns="0" tIns="0" rIns="0" bIns="0" anchor="t">
            <a:noAutofit/>
          </a:bodyPr>
          <a:lstStyle/>
          <a:p>
            <a:pPr>
              <a:defRPr sz="1600" b="1">
                <a:solidFill>
                  <a:srgbClr val="12263D"/>
                </a:solidFill>
                <a:latin typeface="Calibri"/>
                <a:ea typeface="Calibri"/>
                <a:cs typeface="Calibri"/>
              </a:defRPr>
            </a:pPr>
            <a:r>
              <a:rPr sz="2400" b="1" dirty="0">
                <a:solidFill>
                  <a:srgbClr val="12263D"/>
                </a:solidFill>
                <a:latin typeface="Calibri"/>
                <a:ea typeface="Calibri"/>
                <a:cs typeface="Calibri"/>
              </a:rPr>
              <a:t>[Step 3: output]</a:t>
            </a:r>
          </a:p>
        </p:txBody>
      </p:sp>
      <p:sp>
        <p:nvSpPr>
          <p:cNvPr id="24" name="[Output generation or analysis procedure]">
            <a:extLst>
              <a:ext uri="{FF2B5EF4-FFF2-40B4-BE49-F238E27FC236}">
                <a16:creationId xmlns:a16="http://schemas.microsoft.com/office/drawing/2014/main" id="{7B439D79-B3DF-43A1-AA31-AF736AED03AE}"/>
              </a:ext>
            </a:extLst>
          </p:cNvPr>
          <p:cNvSpPr>
            <a:spLocks noGrp="1"/>
          </p:cNvSpPr>
          <p:nvPr/>
        </p:nvSpPr>
        <p:spPr>
          <a:xfrm>
            <a:off x="7645400" y="5501368"/>
            <a:ext cx="3810000" cy="533400"/>
          </a:xfrm>
          <a:prstGeom prst="rect">
            <a:avLst/>
          </a:prstGeom>
          <a:noFill/>
          <a:ln w="0">
            <a:noFill/>
          </a:ln>
        </p:spPr>
        <p:txBody>
          <a:bodyPr wrap="square" lIns="0" tIns="0" rIns="0" bIns="0" anchor="t">
            <a:noAutofit/>
          </a:bodyPr>
          <a:lstStyle/>
          <a:p>
            <a:r>
              <a:rPr lang="en-US" sz="1600" dirty="0"/>
              <a:t>Calculate message success rates, compare payload bits, and visualize results.</a:t>
            </a:r>
          </a:p>
        </p:txBody>
      </p:sp>
      <p:sp>
        <p:nvSpPr>
          <p:cNvPr id="30" name="Solution architecture figure"/>
          <p:cNvSpPr/>
          <p:nvPr/>
        </p:nvSpPr>
        <p:spPr>
          <a:xfrm>
            <a:off x="666750" y="2819400"/>
            <a:ext cx="5969000" cy="3124200"/>
          </a:xfrm>
          <a:prstGeom prst="rect">
            <a:avLst/>
          </a:prstGeom>
          <a:solidFill>
            <a:srgbClr val="FFFFFF"/>
          </a:solidFill>
          <a:ln w="9525">
            <a:solidFill>
              <a:srgbClr val="A9BBC9"/>
            </a:solidFill>
            <a:prstDash val="dash"/>
          </a:ln>
        </p:spPr>
        <p:txBody>
          <a:bodyPr wrap="square" lIns="182880" tIns="91440" rIns="182880" bIns="91440" anchor="ctr">
            <a:noAutofit/>
          </a:bodyPr>
          <a:lstStyle/>
          <a:p>
            <a:pPr algn="ctr"/>
            <a:endParaRPr lang="en-US" sz="2400" b="0" dirty="0">
              <a:solidFill>
                <a:srgbClr val="627185"/>
              </a:solidFill>
              <a:latin typeface="Calibri"/>
              <a:ea typeface="Calibri"/>
              <a:cs typeface="Calibri"/>
            </a:endParaRPr>
          </a:p>
        </p:txBody>
      </p:sp>
      <p:pic>
        <p:nvPicPr>
          <p:cNvPr id="3" name="Picture 2">
            <a:extLst>
              <a:ext uri="{FF2B5EF4-FFF2-40B4-BE49-F238E27FC236}">
                <a16:creationId xmlns:a16="http://schemas.microsoft.com/office/drawing/2014/main" id="{2E3DE82A-4D40-897A-3F75-6DE061591D76}"/>
              </a:ext>
            </a:extLst>
          </p:cNvPr>
          <p:cNvPicPr>
            <a:picLocks noChangeAspect="1"/>
          </p:cNvPicPr>
          <p:nvPr/>
        </p:nvPicPr>
        <p:blipFill>
          <a:blip r:embed="rId5"/>
          <a:stretch>
            <a:fillRect/>
          </a:stretch>
        </p:blipFill>
        <p:spPr>
          <a:xfrm>
            <a:off x="493948" y="2762249"/>
            <a:ext cx="6141802" cy="3352800"/>
          </a:xfrm>
          <a:prstGeom prst="rect">
            <a:avLst/>
          </a:prstGeom>
        </p:spPr>
      </p:pic>
      <p:pic>
        <p:nvPicPr>
          <p:cNvPr id="4" name="Audio 3">
            <a:hlinkClick r:id="" action="ppaction://media"/>
            <a:extLst>
              <a:ext uri="{FF2B5EF4-FFF2-40B4-BE49-F238E27FC236}">
                <a16:creationId xmlns:a16="http://schemas.microsoft.com/office/drawing/2014/main" id="{634D2EB0-0814-4153-D88D-8FCB0089A614}"/>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325000" t="-160938" r="-325000" b="-160938"/>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2162839470"/>
      </p:ext>
    </p:extLst>
  </p:cSld>
  <p:clrMapOvr>
    <a:masterClrMapping/>
  </p:clrMapOvr>
  <mc:AlternateContent xmlns:mc="http://schemas.openxmlformats.org/markup-compatibility/2006">
    <mc:Choice xmlns:p14="http://schemas.microsoft.com/office/powerpoint/2010/main" Requires="p14">
      <p:transition spd="slow" p14:dur="2000" advTm="14314"/>
    </mc:Choice>
    <mc:Fallback>
      <p:transition spd="slow" advTm="1431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Experimental setup">
            <a:extLst>
              <a:ext uri="{FF2B5EF4-FFF2-40B4-BE49-F238E27FC236}">
                <a16:creationId xmlns:a16="http://schemas.microsoft.com/office/drawing/2014/main" id="{4C4522FD-BC14-4E62-8DC7-E0B7E34ABF36}"/>
              </a:ext>
            </a:extLst>
          </p:cNvPr>
          <p:cNvSpPr>
            <a:spLocks noGrp="1"/>
          </p:cNvSpPr>
          <p:nvPr/>
        </p:nvSpPr>
        <p:spPr>
          <a:xfrm>
            <a:off x="647700" y="1181100"/>
            <a:ext cx="10810875" cy="628650"/>
          </a:xfrm>
          <a:prstGeom prst="rect">
            <a:avLst/>
          </a:prstGeom>
          <a:noFill/>
          <a:ln w="0">
            <a:noFill/>
          </a:ln>
        </p:spPr>
        <p:txBody>
          <a:bodyPr wrap="square" lIns="0" tIns="0" rIns="0" bIns="0" anchor="t">
            <a:noAutofit/>
          </a:bodyPr>
          <a:lstStyle/>
          <a:p>
            <a:pPr>
              <a:defRPr sz="2900" b="1">
                <a:solidFill>
                  <a:srgbClr val="12263D"/>
                </a:solidFill>
                <a:latin typeface="Calibri"/>
                <a:ea typeface="Calibri"/>
                <a:cs typeface="Calibri"/>
              </a:defRPr>
            </a:pPr>
            <a:r>
              <a:rPr sz="3600" b="1" dirty="0">
                <a:solidFill>
                  <a:srgbClr val="12263D"/>
                </a:solidFill>
                <a:latin typeface="Calibri"/>
                <a:ea typeface="Calibri"/>
                <a:cs typeface="Calibri"/>
              </a:rPr>
              <a:t>Experimental </a:t>
            </a:r>
            <a:r>
              <a:rPr lang="en-US" sz="3600" b="1" dirty="0">
                <a:solidFill>
                  <a:srgbClr val="12263D"/>
                </a:solidFill>
                <a:latin typeface="Calibri"/>
                <a:ea typeface="Calibri"/>
                <a:cs typeface="Calibri"/>
              </a:rPr>
              <a:t>S</a:t>
            </a:r>
            <a:r>
              <a:rPr sz="3600" b="1" dirty="0">
                <a:solidFill>
                  <a:srgbClr val="12263D"/>
                </a:solidFill>
                <a:latin typeface="Calibri"/>
                <a:ea typeface="Calibri"/>
                <a:cs typeface="Calibri"/>
              </a:rPr>
              <a:t>etup</a:t>
            </a:r>
          </a:p>
        </p:txBody>
      </p:sp>
      <p:sp>
        <p:nvSpPr>
          <p:cNvPr id="7" name="Straight Connector 6">
            <a:extLst>
              <a:ext uri="{FF2B5EF4-FFF2-40B4-BE49-F238E27FC236}">
                <a16:creationId xmlns:a16="http://schemas.microsoft.com/office/drawing/2014/main" id="{67647916-6C43-48E0-82AA-947880EB8D46}"/>
              </a:ext>
            </a:extLst>
          </p:cNvPr>
          <p:cNvSpPr>
            <a:spLocks noGrp="1"/>
          </p:cNvSpPr>
          <p:nvPr/>
        </p:nvSpPr>
        <p:spPr>
          <a:xfrm>
            <a:off x="647700" y="1933575"/>
            <a:ext cx="10896600" cy="0"/>
          </a:xfrm>
          <a:prstGeom prst="line">
            <a:avLst/>
          </a:prstGeom>
          <a:noFill/>
          <a:ln w="9525">
            <a:solidFill>
              <a:srgbClr val="D7E1E9"/>
            </a:solidFill>
          </a:ln>
        </p:spPr>
        <p:txBody>
          <a:bodyPr/>
          <a:lstStyle/>
          <a:p>
            <a:endParaRPr lang="en-GB" sz="2400"/>
          </a:p>
        </p:txBody>
      </p:sp>
      <p:sp>
        <p:nvSpPr>
          <p:cNvPr id="8" name="Straight Connector 7">
            <a:extLst>
              <a:ext uri="{FF2B5EF4-FFF2-40B4-BE49-F238E27FC236}">
                <a16:creationId xmlns:a16="http://schemas.microsoft.com/office/drawing/2014/main" id="{8EC3A778-E9F6-4FD3-8B2C-85DCDC53AA02}"/>
              </a:ext>
            </a:extLst>
          </p:cNvPr>
          <p:cNvSpPr>
            <a:spLocks noGrp="1"/>
          </p:cNvSpPr>
          <p:nvPr/>
        </p:nvSpPr>
        <p:spPr>
          <a:xfrm>
            <a:off x="647700" y="6238875"/>
            <a:ext cx="10896600" cy="0"/>
          </a:xfrm>
          <a:prstGeom prst="line">
            <a:avLst/>
          </a:prstGeom>
          <a:noFill/>
          <a:ln w="9525">
            <a:solidFill>
              <a:srgbClr val="D7E1E9"/>
            </a:solidFill>
          </a:ln>
        </p:spPr>
        <p:txBody>
          <a:bodyPr/>
          <a:lstStyle/>
          <a:p>
            <a:endParaRPr lang="en-GB" sz="2000"/>
          </a:p>
        </p:txBody>
      </p:sp>
      <p:sp>
        <p:nvSpPr>
          <p:cNvPr id="9" name="[Short paper title]">
            <a:extLst>
              <a:ext uri="{FF2B5EF4-FFF2-40B4-BE49-F238E27FC236}">
                <a16:creationId xmlns:a16="http://schemas.microsoft.com/office/drawing/2014/main" id="{3D8F2DCC-C25A-4B8D-AE8E-EF919CA84DE2}"/>
              </a:ext>
            </a:extLst>
          </p:cNvPr>
          <p:cNvSpPr>
            <a:spLocks noGrp="1"/>
          </p:cNvSpPr>
          <p:nvPr/>
        </p:nvSpPr>
        <p:spPr>
          <a:xfrm>
            <a:off x="647700" y="6419850"/>
            <a:ext cx="6429375" cy="351062"/>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r>
              <a:rPr lang="en-US" sz="2000" dirty="0">
                <a:solidFill>
                  <a:srgbClr val="627185"/>
                </a:solidFill>
                <a:latin typeface="Calibri"/>
                <a:ea typeface="Calibri"/>
                <a:cs typeface="Calibri"/>
              </a:rPr>
              <a:t> Semantic Communication for 6G</a:t>
            </a:r>
          </a:p>
        </p:txBody>
      </p:sp>
      <p:sp>
        <p:nvSpPr>
          <p:cNvPr id="10" name="Paper ID: [000]">
            <a:extLst>
              <a:ext uri="{FF2B5EF4-FFF2-40B4-BE49-F238E27FC236}">
                <a16:creationId xmlns:a16="http://schemas.microsoft.com/office/drawing/2014/main" id="{283E6B27-15A5-46F3-8B10-7C80A8692186}"/>
              </a:ext>
            </a:extLst>
          </p:cNvPr>
          <p:cNvSpPr>
            <a:spLocks noGrp="1"/>
          </p:cNvSpPr>
          <p:nvPr/>
        </p:nvSpPr>
        <p:spPr>
          <a:xfrm>
            <a:off x="8905875" y="6419850"/>
            <a:ext cx="2000250"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endParaRPr sz="2000" b="0" dirty="0">
              <a:solidFill>
                <a:srgbClr val="627185"/>
              </a:solidFill>
              <a:latin typeface="Calibri"/>
              <a:ea typeface="Calibri"/>
              <a:cs typeface="Calibri"/>
            </a:endParaRPr>
          </a:p>
        </p:txBody>
      </p:sp>
      <p:sp>
        <p:nvSpPr>
          <p:cNvPr id="11" name="07">
            <a:extLst>
              <a:ext uri="{FF2B5EF4-FFF2-40B4-BE49-F238E27FC236}">
                <a16:creationId xmlns:a16="http://schemas.microsoft.com/office/drawing/2014/main" id="{67CFE318-73F6-40BF-A9D4-6AD33D152AE2}"/>
              </a:ext>
            </a:extLst>
          </p:cNvPr>
          <p:cNvSpPr>
            <a:spLocks noGrp="1"/>
          </p:cNvSpPr>
          <p:nvPr/>
        </p:nvSpPr>
        <p:spPr>
          <a:xfrm>
            <a:off x="11125200" y="6419850"/>
            <a:ext cx="419100" cy="219075"/>
          </a:xfrm>
          <a:prstGeom prst="rect">
            <a:avLst/>
          </a:prstGeom>
          <a:noFill/>
          <a:ln w="0">
            <a:noFill/>
          </a:ln>
        </p:spPr>
        <p:txBody>
          <a:bodyPr wrap="square" lIns="0" tIns="0" rIns="0" bIns="0" anchor="t">
            <a:noAutofit/>
          </a:bodyPr>
          <a:lstStyle/>
          <a:p>
            <a:pPr>
              <a:defRPr sz="1000" b="1">
                <a:solidFill>
                  <a:srgbClr val="0067A6"/>
                </a:solidFill>
                <a:latin typeface="Calibri"/>
                <a:ea typeface="Calibri"/>
                <a:cs typeface="Calibri"/>
              </a:defRPr>
            </a:pPr>
            <a:r>
              <a:rPr sz="2000" b="1">
                <a:solidFill>
                  <a:srgbClr val="0067A6"/>
                </a:solidFill>
                <a:latin typeface="Calibri"/>
                <a:ea typeface="Calibri"/>
                <a:cs typeface="Calibri"/>
              </a:rPr>
              <a:t>06</a:t>
            </a:r>
          </a:p>
        </p:txBody>
      </p:sp>
      <p:sp>
        <p:nvSpPr>
          <p:cNvPr id="12" name="Data / study setting">
            <a:extLst>
              <a:ext uri="{FF2B5EF4-FFF2-40B4-BE49-F238E27FC236}">
                <a16:creationId xmlns:a16="http://schemas.microsoft.com/office/drawing/2014/main" id="{B761308C-DF9C-49F9-BB9E-6A110E82B60A}"/>
              </a:ext>
            </a:extLst>
          </p:cNvPr>
          <p:cNvSpPr>
            <a:spLocks noGrp="1"/>
          </p:cNvSpPr>
          <p:nvPr/>
        </p:nvSpPr>
        <p:spPr>
          <a:xfrm>
            <a:off x="666750" y="2152650"/>
            <a:ext cx="3476625" cy="619125"/>
          </a:xfrm>
          <a:prstGeom prst="rect">
            <a:avLst/>
          </a:prstGeom>
          <a:noFill/>
          <a:ln w="0">
            <a:noFill/>
          </a:ln>
        </p:spPr>
        <p:txBody>
          <a:bodyPr wrap="square" lIns="0" tIns="0" rIns="0" bIns="0" anchor="t">
            <a:noAutofit/>
          </a:bodyPr>
          <a:lstStyle/>
          <a:p>
            <a:pPr>
              <a:defRPr sz="1800" b="1">
                <a:solidFill>
                  <a:srgbClr val="0067A6"/>
                </a:solidFill>
                <a:latin typeface="Calibri"/>
                <a:ea typeface="Calibri"/>
                <a:cs typeface="Calibri"/>
              </a:defRPr>
            </a:pPr>
            <a:r>
              <a:rPr sz="2400" b="1" dirty="0">
                <a:solidFill>
                  <a:srgbClr val="0067A6"/>
                </a:solidFill>
                <a:latin typeface="Calibri"/>
                <a:ea typeface="Calibri"/>
                <a:cs typeface="Calibri"/>
              </a:rPr>
              <a:t>Data / study setting</a:t>
            </a:r>
          </a:p>
        </p:txBody>
      </p:sp>
      <p:sp>
        <p:nvSpPr>
          <p:cNvPr id="13" name="[Dataset, sample size and split]">
            <a:extLst>
              <a:ext uri="{FF2B5EF4-FFF2-40B4-BE49-F238E27FC236}">
                <a16:creationId xmlns:a16="http://schemas.microsoft.com/office/drawing/2014/main" id="{E3BFCD95-6147-4B93-815A-44C543AD8FD2}"/>
              </a:ext>
            </a:extLst>
          </p:cNvPr>
          <p:cNvSpPr>
            <a:spLocks noGrp="1"/>
          </p:cNvSpPr>
          <p:nvPr/>
        </p:nvSpPr>
        <p:spPr>
          <a:xfrm>
            <a:off x="4476750" y="2019299"/>
            <a:ext cx="6953250" cy="704850"/>
          </a:xfrm>
          <a:prstGeom prst="rect">
            <a:avLst/>
          </a:prstGeom>
          <a:noFill/>
          <a:ln w="0">
            <a:noFill/>
          </a:ln>
        </p:spPr>
        <p:txBody>
          <a:bodyPr wrap="square" lIns="0" tIns="0" rIns="0" bIns="0" anchor="t">
            <a:noAutofit/>
          </a:bodyPr>
          <a:lstStyle/>
          <a:p>
            <a:pPr algn="just">
              <a:defRPr sz="1800" b="0">
                <a:solidFill>
                  <a:srgbClr val="12263D"/>
                </a:solidFill>
                <a:latin typeface="Calibri"/>
                <a:ea typeface="Calibri"/>
                <a:cs typeface="Calibri"/>
              </a:defRPr>
            </a:pPr>
            <a:r>
              <a:rPr lang="en-US" sz="3200" b="0" dirty="0">
                <a:solidFill>
                  <a:srgbClr val="12263D"/>
                </a:solidFill>
                <a:latin typeface="Calibri"/>
                <a:ea typeface="Calibri"/>
                <a:cs typeface="Calibri"/>
              </a:rPr>
              <a:t> </a:t>
            </a:r>
            <a:r>
              <a:rPr lang="en-US" sz="2400" dirty="0">
                <a:solidFill>
                  <a:srgbClr val="12263D"/>
                </a:solidFill>
                <a:latin typeface="Calibri"/>
                <a:ea typeface="Calibri"/>
                <a:cs typeface="Calibri"/>
              </a:rPr>
              <a:t> Synthetic emergency message, three keywords, five packet loss rates.</a:t>
            </a:r>
            <a:endParaRPr lang="en-US" sz="2400" dirty="0">
              <a:solidFill>
                <a:srgbClr val="12263D"/>
              </a:solidFill>
              <a:latin typeface="Calibri"/>
            </a:endParaRPr>
          </a:p>
          <a:p>
            <a:pPr algn="just">
              <a:defRPr sz="1800" b="0">
                <a:solidFill>
                  <a:srgbClr val="12263D"/>
                </a:solidFill>
                <a:latin typeface="Calibri"/>
                <a:ea typeface="Calibri"/>
                <a:cs typeface="Calibri"/>
              </a:defRPr>
            </a:pPr>
            <a:endParaRPr sz="3200" b="0" dirty="0">
              <a:solidFill>
                <a:srgbClr val="12263D"/>
              </a:solidFill>
              <a:latin typeface="Calibri"/>
              <a:ea typeface="Calibri"/>
              <a:cs typeface="Calibri"/>
            </a:endParaRPr>
          </a:p>
        </p:txBody>
      </p:sp>
      <p:sp>
        <p:nvSpPr>
          <p:cNvPr id="14" name="Straight Connector 13">
            <a:extLst>
              <a:ext uri="{FF2B5EF4-FFF2-40B4-BE49-F238E27FC236}">
                <a16:creationId xmlns:a16="http://schemas.microsoft.com/office/drawing/2014/main" id="{5D61A1FD-5907-4284-87A9-31CC6C557445}"/>
              </a:ext>
            </a:extLst>
          </p:cNvPr>
          <p:cNvSpPr>
            <a:spLocks noGrp="1"/>
          </p:cNvSpPr>
          <p:nvPr/>
        </p:nvSpPr>
        <p:spPr>
          <a:xfrm>
            <a:off x="666750" y="2895600"/>
            <a:ext cx="10820400" cy="0"/>
          </a:xfrm>
          <a:prstGeom prst="line">
            <a:avLst/>
          </a:prstGeom>
          <a:noFill/>
          <a:ln w="9525">
            <a:solidFill>
              <a:srgbClr val="D7E1E9"/>
            </a:solidFill>
          </a:ln>
        </p:spPr>
        <p:txBody>
          <a:bodyPr/>
          <a:lstStyle/>
          <a:p>
            <a:endParaRPr lang="en-GB" sz="2400"/>
          </a:p>
        </p:txBody>
      </p:sp>
      <p:sp>
        <p:nvSpPr>
          <p:cNvPr id="15" name="Baselines / comparisons">
            <a:extLst>
              <a:ext uri="{FF2B5EF4-FFF2-40B4-BE49-F238E27FC236}">
                <a16:creationId xmlns:a16="http://schemas.microsoft.com/office/drawing/2014/main" id="{1870270F-AF35-4C90-9A93-250EBF19BDA4}"/>
              </a:ext>
            </a:extLst>
          </p:cNvPr>
          <p:cNvSpPr>
            <a:spLocks noGrp="1"/>
          </p:cNvSpPr>
          <p:nvPr/>
        </p:nvSpPr>
        <p:spPr>
          <a:xfrm>
            <a:off x="666750" y="3057525"/>
            <a:ext cx="3476625" cy="619125"/>
          </a:xfrm>
          <a:prstGeom prst="rect">
            <a:avLst/>
          </a:prstGeom>
          <a:noFill/>
          <a:ln w="0">
            <a:noFill/>
          </a:ln>
        </p:spPr>
        <p:txBody>
          <a:bodyPr wrap="square" lIns="0" tIns="0" rIns="0" bIns="0" anchor="t">
            <a:noAutofit/>
          </a:bodyPr>
          <a:lstStyle/>
          <a:p>
            <a:pPr>
              <a:defRPr sz="1800" b="1">
                <a:solidFill>
                  <a:srgbClr val="0067A6"/>
                </a:solidFill>
                <a:latin typeface="Calibri"/>
                <a:ea typeface="Calibri"/>
                <a:cs typeface="Calibri"/>
              </a:defRPr>
            </a:pPr>
            <a:r>
              <a:rPr sz="2400" b="1">
                <a:solidFill>
                  <a:srgbClr val="0067A6"/>
                </a:solidFill>
                <a:latin typeface="Calibri"/>
                <a:ea typeface="Calibri"/>
                <a:cs typeface="Calibri"/>
              </a:rPr>
              <a:t>Baselines / comparisons</a:t>
            </a:r>
          </a:p>
        </p:txBody>
      </p:sp>
      <p:sp>
        <p:nvSpPr>
          <p:cNvPr id="16" name="[Methods and fair comparison settings]">
            <a:extLst>
              <a:ext uri="{FF2B5EF4-FFF2-40B4-BE49-F238E27FC236}">
                <a16:creationId xmlns:a16="http://schemas.microsoft.com/office/drawing/2014/main" id="{35D048CF-BCD8-4BFF-9450-EA4AC3DBBE62}"/>
              </a:ext>
            </a:extLst>
          </p:cNvPr>
          <p:cNvSpPr>
            <a:spLocks noGrp="1"/>
          </p:cNvSpPr>
          <p:nvPr/>
        </p:nvSpPr>
        <p:spPr>
          <a:xfrm>
            <a:off x="4474029" y="2957513"/>
            <a:ext cx="6953250" cy="704850"/>
          </a:xfrm>
          <a:prstGeom prst="rect">
            <a:avLst/>
          </a:prstGeom>
          <a:noFill/>
          <a:ln w="0">
            <a:noFill/>
          </a:ln>
        </p:spPr>
        <p:txBody>
          <a:bodyPr wrap="square" lIns="0" tIns="0" rIns="0" bIns="0" anchor="t">
            <a:noAutofit/>
          </a:bodyPr>
          <a:lstStyle/>
          <a:p>
            <a:pPr>
              <a:defRPr sz="1800" b="0">
                <a:solidFill>
                  <a:srgbClr val="12263D"/>
                </a:solidFill>
                <a:latin typeface="Calibri"/>
                <a:ea typeface="Calibri"/>
                <a:cs typeface="Calibri"/>
              </a:defRPr>
            </a:pPr>
            <a:r>
              <a:rPr lang="en-US" sz="3200" dirty="0">
                <a:solidFill>
                  <a:srgbClr val="12263D"/>
                </a:solidFill>
                <a:latin typeface="Calibri"/>
                <a:ea typeface="Calibri"/>
                <a:cs typeface="Calibri"/>
              </a:rPr>
              <a:t> </a:t>
            </a:r>
            <a:r>
              <a:rPr lang="en-US" sz="2400" dirty="0">
                <a:solidFill>
                  <a:srgbClr val="12263D"/>
                </a:solidFill>
                <a:latin typeface="Calibri"/>
                <a:ea typeface="Calibri"/>
                <a:cs typeface="Calibri"/>
              </a:rPr>
              <a:t> Conventional sends one full message packet semantic sends three keyword packets under loss rates</a:t>
            </a:r>
            <a:endParaRPr sz="3200" b="0" dirty="0">
              <a:solidFill>
                <a:srgbClr val="12263D"/>
              </a:solidFill>
              <a:latin typeface="Calibri"/>
              <a:ea typeface="Calibri"/>
              <a:cs typeface="Calibri"/>
            </a:endParaRPr>
          </a:p>
        </p:txBody>
      </p:sp>
      <p:sp>
        <p:nvSpPr>
          <p:cNvPr id="17" name="Straight Connector 16">
            <a:extLst>
              <a:ext uri="{FF2B5EF4-FFF2-40B4-BE49-F238E27FC236}">
                <a16:creationId xmlns:a16="http://schemas.microsoft.com/office/drawing/2014/main" id="{E4AEC791-3789-4E4D-963F-6C61A46959A1}"/>
              </a:ext>
            </a:extLst>
          </p:cNvPr>
          <p:cNvSpPr>
            <a:spLocks noGrp="1"/>
          </p:cNvSpPr>
          <p:nvPr/>
        </p:nvSpPr>
        <p:spPr>
          <a:xfrm>
            <a:off x="666750" y="3800475"/>
            <a:ext cx="10820400" cy="0"/>
          </a:xfrm>
          <a:prstGeom prst="line">
            <a:avLst/>
          </a:prstGeom>
          <a:noFill/>
          <a:ln w="9525">
            <a:solidFill>
              <a:srgbClr val="D7E1E9"/>
            </a:solidFill>
          </a:ln>
        </p:spPr>
        <p:txBody>
          <a:bodyPr/>
          <a:lstStyle/>
          <a:p>
            <a:endParaRPr lang="en-GB" sz="2400"/>
          </a:p>
        </p:txBody>
      </p:sp>
      <p:sp>
        <p:nvSpPr>
          <p:cNvPr id="18" name="Evaluation metrics">
            <a:extLst>
              <a:ext uri="{FF2B5EF4-FFF2-40B4-BE49-F238E27FC236}">
                <a16:creationId xmlns:a16="http://schemas.microsoft.com/office/drawing/2014/main" id="{CEAFF3CC-53FC-4852-A42E-B8968A87C3EC}"/>
              </a:ext>
            </a:extLst>
          </p:cNvPr>
          <p:cNvSpPr>
            <a:spLocks noGrp="1"/>
          </p:cNvSpPr>
          <p:nvPr/>
        </p:nvSpPr>
        <p:spPr>
          <a:xfrm>
            <a:off x="666750" y="3962400"/>
            <a:ext cx="3476625" cy="619125"/>
          </a:xfrm>
          <a:prstGeom prst="rect">
            <a:avLst/>
          </a:prstGeom>
          <a:noFill/>
          <a:ln w="0">
            <a:noFill/>
          </a:ln>
        </p:spPr>
        <p:txBody>
          <a:bodyPr wrap="square" lIns="0" tIns="0" rIns="0" bIns="0" anchor="t">
            <a:noAutofit/>
          </a:bodyPr>
          <a:lstStyle/>
          <a:p>
            <a:pPr>
              <a:defRPr sz="1800" b="1">
                <a:solidFill>
                  <a:srgbClr val="0067A6"/>
                </a:solidFill>
                <a:latin typeface="Calibri"/>
                <a:ea typeface="Calibri"/>
                <a:cs typeface="Calibri"/>
              </a:defRPr>
            </a:pPr>
            <a:r>
              <a:rPr sz="2400" b="1">
                <a:solidFill>
                  <a:srgbClr val="0067A6"/>
                </a:solidFill>
                <a:latin typeface="Calibri"/>
                <a:ea typeface="Calibri"/>
                <a:cs typeface="Calibri"/>
              </a:rPr>
              <a:t>Evaluation metrics</a:t>
            </a:r>
          </a:p>
        </p:txBody>
      </p:sp>
      <p:sp>
        <p:nvSpPr>
          <p:cNvPr id="19" name="[Metric definitions and units]">
            <a:extLst>
              <a:ext uri="{FF2B5EF4-FFF2-40B4-BE49-F238E27FC236}">
                <a16:creationId xmlns:a16="http://schemas.microsoft.com/office/drawing/2014/main" id="{0C74C494-5D7E-4983-AF8E-F44F5B1FDD16}"/>
              </a:ext>
            </a:extLst>
          </p:cNvPr>
          <p:cNvSpPr>
            <a:spLocks noGrp="1"/>
          </p:cNvSpPr>
          <p:nvPr/>
        </p:nvSpPr>
        <p:spPr>
          <a:xfrm>
            <a:off x="4476750" y="3962400"/>
            <a:ext cx="6953250" cy="704850"/>
          </a:xfrm>
          <a:prstGeom prst="rect">
            <a:avLst/>
          </a:prstGeom>
          <a:noFill/>
          <a:ln w="0">
            <a:noFill/>
          </a:ln>
        </p:spPr>
        <p:txBody>
          <a:bodyPr wrap="square" lIns="0" tIns="0" rIns="0" bIns="0" anchor="t">
            <a:noAutofit/>
          </a:bodyPr>
          <a:lstStyle/>
          <a:p>
            <a:pPr>
              <a:defRPr sz="1800" b="0">
                <a:solidFill>
                  <a:srgbClr val="12263D"/>
                </a:solidFill>
                <a:latin typeface="Calibri"/>
                <a:ea typeface="Calibri"/>
                <a:cs typeface="Calibri"/>
              </a:defRPr>
            </a:pPr>
            <a:r>
              <a:rPr lang="en-US" sz="3200" dirty="0">
                <a:solidFill>
                  <a:srgbClr val="12263D"/>
                </a:solidFill>
                <a:latin typeface="Calibri"/>
                <a:ea typeface="Calibri"/>
                <a:cs typeface="Calibri"/>
              </a:rPr>
              <a:t>  </a:t>
            </a:r>
            <a:r>
              <a:rPr lang="en-US" sz="2400" dirty="0">
                <a:solidFill>
                  <a:srgbClr val="12263D"/>
                </a:solidFill>
                <a:latin typeface="Calibri"/>
                <a:ea typeface="Calibri"/>
                <a:cs typeface="Calibri"/>
              </a:rPr>
              <a:t>Payload size , Payload reduction, Task success rate</a:t>
            </a:r>
            <a:endParaRPr sz="3200" b="0" dirty="0">
              <a:solidFill>
                <a:srgbClr val="12263D"/>
              </a:solidFill>
              <a:latin typeface="Calibri"/>
              <a:ea typeface="Calibri"/>
              <a:cs typeface="Calibri"/>
            </a:endParaRPr>
          </a:p>
        </p:txBody>
      </p:sp>
      <p:sp>
        <p:nvSpPr>
          <p:cNvPr id="20" name="Straight Connector 19">
            <a:extLst>
              <a:ext uri="{FF2B5EF4-FFF2-40B4-BE49-F238E27FC236}">
                <a16:creationId xmlns:a16="http://schemas.microsoft.com/office/drawing/2014/main" id="{AFC9C8A3-9747-46B1-9E4B-1B9316126DD0}"/>
              </a:ext>
            </a:extLst>
          </p:cNvPr>
          <p:cNvSpPr>
            <a:spLocks noGrp="1"/>
          </p:cNvSpPr>
          <p:nvPr/>
        </p:nvSpPr>
        <p:spPr>
          <a:xfrm>
            <a:off x="666750" y="4705350"/>
            <a:ext cx="10820400" cy="0"/>
          </a:xfrm>
          <a:prstGeom prst="line">
            <a:avLst/>
          </a:prstGeom>
          <a:noFill/>
          <a:ln w="9525">
            <a:solidFill>
              <a:srgbClr val="D7E1E9"/>
            </a:solidFill>
          </a:ln>
        </p:spPr>
        <p:txBody>
          <a:bodyPr/>
          <a:lstStyle/>
          <a:p>
            <a:endParaRPr lang="en-GB" sz="2400"/>
          </a:p>
        </p:txBody>
      </p:sp>
      <p:sp>
        <p:nvSpPr>
          <p:cNvPr id="21" name="Implementation / protocol">
            <a:extLst>
              <a:ext uri="{FF2B5EF4-FFF2-40B4-BE49-F238E27FC236}">
                <a16:creationId xmlns:a16="http://schemas.microsoft.com/office/drawing/2014/main" id="{EC173211-A1A8-40A4-BE28-7080284B0476}"/>
              </a:ext>
            </a:extLst>
          </p:cNvPr>
          <p:cNvSpPr>
            <a:spLocks noGrp="1"/>
          </p:cNvSpPr>
          <p:nvPr/>
        </p:nvSpPr>
        <p:spPr>
          <a:xfrm>
            <a:off x="666750" y="4867275"/>
            <a:ext cx="3476625" cy="619125"/>
          </a:xfrm>
          <a:prstGeom prst="rect">
            <a:avLst/>
          </a:prstGeom>
          <a:noFill/>
          <a:ln w="0">
            <a:noFill/>
          </a:ln>
        </p:spPr>
        <p:txBody>
          <a:bodyPr wrap="square" lIns="0" tIns="0" rIns="0" bIns="0" anchor="t">
            <a:noAutofit/>
          </a:bodyPr>
          <a:lstStyle/>
          <a:p>
            <a:pPr>
              <a:defRPr sz="1800" b="1">
                <a:solidFill>
                  <a:srgbClr val="0067A6"/>
                </a:solidFill>
                <a:latin typeface="Calibri"/>
                <a:ea typeface="Calibri"/>
                <a:cs typeface="Calibri"/>
              </a:defRPr>
            </a:pPr>
            <a:r>
              <a:rPr sz="2400" b="1">
                <a:solidFill>
                  <a:srgbClr val="0067A6"/>
                </a:solidFill>
                <a:latin typeface="Calibri"/>
                <a:ea typeface="Calibri"/>
                <a:cs typeface="Calibri"/>
              </a:rPr>
              <a:t>Implementation / protocol</a:t>
            </a:r>
          </a:p>
        </p:txBody>
      </p:sp>
      <p:sp>
        <p:nvSpPr>
          <p:cNvPr id="22" name="[Hardware, seeds or study procedure]">
            <a:extLst>
              <a:ext uri="{FF2B5EF4-FFF2-40B4-BE49-F238E27FC236}">
                <a16:creationId xmlns:a16="http://schemas.microsoft.com/office/drawing/2014/main" id="{89823C04-B5AA-4A1B-AC4F-4CAAE38F54AA}"/>
              </a:ext>
            </a:extLst>
          </p:cNvPr>
          <p:cNvSpPr>
            <a:spLocks noGrp="1"/>
          </p:cNvSpPr>
          <p:nvPr/>
        </p:nvSpPr>
        <p:spPr>
          <a:xfrm>
            <a:off x="4476750" y="4867275"/>
            <a:ext cx="6953250" cy="704850"/>
          </a:xfrm>
          <a:prstGeom prst="rect">
            <a:avLst/>
          </a:prstGeom>
          <a:noFill/>
          <a:ln w="0">
            <a:noFill/>
          </a:ln>
        </p:spPr>
        <p:txBody>
          <a:bodyPr wrap="square" lIns="0" tIns="0" rIns="0" bIns="0" anchor="t">
            <a:noAutofit/>
          </a:bodyPr>
          <a:lstStyle/>
          <a:p>
            <a:pPr>
              <a:defRPr sz="1800" b="0">
                <a:solidFill>
                  <a:srgbClr val="12263D"/>
                </a:solidFill>
                <a:latin typeface="Calibri"/>
                <a:ea typeface="Calibri"/>
                <a:cs typeface="Calibri"/>
              </a:defRPr>
            </a:pPr>
            <a:r>
              <a:rPr lang="en-US" sz="3200" dirty="0">
                <a:solidFill>
                  <a:srgbClr val="12263D"/>
                </a:solidFill>
                <a:latin typeface="Calibri"/>
                <a:ea typeface="Calibri"/>
                <a:cs typeface="Calibri"/>
              </a:rPr>
              <a:t>  </a:t>
            </a:r>
            <a:r>
              <a:rPr lang="en-US" sz="2400" dirty="0">
                <a:solidFill>
                  <a:srgbClr val="12263D"/>
                </a:solidFill>
                <a:latin typeface="Calibri"/>
                <a:ea typeface="Calibri"/>
                <a:cs typeface="Calibri"/>
              </a:rPr>
              <a:t>Google </a:t>
            </a:r>
            <a:r>
              <a:rPr lang="en-US" sz="2400" dirty="0" err="1">
                <a:solidFill>
                  <a:srgbClr val="12263D"/>
                </a:solidFill>
                <a:latin typeface="Calibri"/>
                <a:ea typeface="Calibri"/>
                <a:cs typeface="Calibri"/>
              </a:rPr>
              <a:t>Colab</a:t>
            </a:r>
            <a:r>
              <a:rPr lang="en-US" sz="2400" dirty="0">
                <a:solidFill>
                  <a:srgbClr val="12263D"/>
                </a:solidFill>
                <a:latin typeface="Calibri"/>
                <a:ea typeface="Calibri"/>
                <a:cs typeface="Calibri"/>
              </a:rPr>
              <a:t> and Python with NumPy, Pandas etc.</a:t>
            </a:r>
            <a:endParaRPr sz="3200" b="0" dirty="0">
              <a:solidFill>
                <a:srgbClr val="12263D"/>
              </a:solidFill>
              <a:latin typeface="Calibri"/>
              <a:ea typeface="Calibri"/>
              <a:cs typeface="Calibri"/>
            </a:endParaRPr>
          </a:p>
        </p:txBody>
      </p:sp>
      <p:pic>
        <p:nvPicPr>
          <p:cNvPr id="2" name="Audio 1">
            <a:hlinkClick r:id="" action="ppaction://media"/>
            <a:extLst>
              <a:ext uri="{FF2B5EF4-FFF2-40B4-BE49-F238E27FC236}">
                <a16:creationId xmlns:a16="http://schemas.microsoft.com/office/drawing/2014/main" id="{B69BD563-D8F7-287D-19FF-FE31378F8330}"/>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325000" t="-160938" r="-325000" b="-160938"/>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626074825"/>
      </p:ext>
    </p:extLst>
  </p:cSld>
  <p:clrMapOvr>
    <a:masterClrMapping/>
  </p:clrMapOvr>
  <mc:AlternateContent xmlns:mc="http://schemas.openxmlformats.org/markup-compatibility/2006">
    <mc:Choice xmlns:p14="http://schemas.microsoft.com/office/powerpoint/2010/main" Requires="p14">
      <p:transition spd="slow" p14:dur="2000" advTm="38393"/>
    </mc:Choice>
    <mc:Fallback>
      <p:transition spd="slow" advTm="383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sults and discussion">
            <a:extLst>
              <a:ext uri="{FF2B5EF4-FFF2-40B4-BE49-F238E27FC236}">
                <a16:creationId xmlns:a16="http://schemas.microsoft.com/office/drawing/2014/main" id="{CF3C6489-8B24-4858-9567-DFF21F75D075}"/>
              </a:ext>
            </a:extLst>
          </p:cNvPr>
          <p:cNvSpPr>
            <a:spLocks noGrp="1"/>
          </p:cNvSpPr>
          <p:nvPr/>
        </p:nvSpPr>
        <p:spPr>
          <a:xfrm>
            <a:off x="647700" y="1181100"/>
            <a:ext cx="10810875" cy="628650"/>
          </a:xfrm>
          <a:prstGeom prst="rect">
            <a:avLst/>
          </a:prstGeom>
          <a:noFill/>
          <a:ln w="0">
            <a:noFill/>
          </a:ln>
        </p:spPr>
        <p:txBody>
          <a:bodyPr wrap="square" lIns="0" tIns="0" rIns="0" bIns="0" anchor="t">
            <a:noAutofit/>
          </a:bodyPr>
          <a:lstStyle/>
          <a:p>
            <a:pPr>
              <a:defRPr sz="2900" b="1">
                <a:solidFill>
                  <a:srgbClr val="12263D"/>
                </a:solidFill>
                <a:latin typeface="Calibri"/>
                <a:ea typeface="Calibri"/>
                <a:cs typeface="Calibri"/>
              </a:defRPr>
            </a:pPr>
            <a:r>
              <a:rPr sz="3600" b="1" dirty="0">
                <a:solidFill>
                  <a:srgbClr val="12263D"/>
                </a:solidFill>
                <a:latin typeface="Calibri"/>
                <a:ea typeface="Calibri"/>
                <a:cs typeface="Calibri"/>
              </a:rPr>
              <a:t>Results and </a:t>
            </a:r>
            <a:r>
              <a:rPr lang="en-US" sz="3600" b="1" dirty="0">
                <a:solidFill>
                  <a:srgbClr val="12263D"/>
                </a:solidFill>
                <a:latin typeface="Calibri"/>
                <a:ea typeface="Calibri"/>
                <a:cs typeface="Calibri"/>
              </a:rPr>
              <a:t>D</a:t>
            </a:r>
            <a:r>
              <a:rPr sz="3600" b="1" dirty="0">
                <a:solidFill>
                  <a:srgbClr val="12263D"/>
                </a:solidFill>
                <a:latin typeface="Calibri"/>
                <a:ea typeface="Calibri"/>
                <a:cs typeface="Calibri"/>
              </a:rPr>
              <a:t>iscussion</a:t>
            </a:r>
          </a:p>
        </p:txBody>
      </p:sp>
      <p:sp>
        <p:nvSpPr>
          <p:cNvPr id="7" name="Straight Connector 6">
            <a:extLst>
              <a:ext uri="{FF2B5EF4-FFF2-40B4-BE49-F238E27FC236}">
                <a16:creationId xmlns:a16="http://schemas.microsoft.com/office/drawing/2014/main" id="{D3946742-9F7A-4DC6-B9F2-F6827ECDF620}"/>
              </a:ext>
            </a:extLst>
          </p:cNvPr>
          <p:cNvSpPr>
            <a:spLocks noGrp="1"/>
          </p:cNvSpPr>
          <p:nvPr/>
        </p:nvSpPr>
        <p:spPr>
          <a:xfrm>
            <a:off x="647700" y="1933575"/>
            <a:ext cx="10896600" cy="0"/>
          </a:xfrm>
          <a:prstGeom prst="line">
            <a:avLst/>
          </a:prstGeom>
          <a:noFill/>
          <a:ln w="9525">
            <a:solidFill>
              <a:srgbClr val="D7E1E9"/>
            </a:solidFill>
          </a:ln>
        </p:spPr>
        <p:txBody>
          <a:bodyPr/>
          <a:lstStyle/>
          <a:p>
            <a:endParaRPr lang="en-GB" sz="2400"/>
          </a:p>
        </p:txBody>
      </p:sp>
      <p:sp>
        <p:nvSpPr>
          <p:cNvPr id="8" name="Straight Connector 7">
            <a:extLst>
              <a:ext uri="{FF2B5EF4-FFF2-40B4-BE49-F238E27FC236}">
                <a16:creationId xmlns:a16="http://schemas.microsoft.com/office/drawing/2014/main" id="{E22B758E-FAC3-4A35-8DFA-B036F7E2A601}"/>
              </a:ext>
            </a:extLst>
          </p:cNvPr>
          <p:cNvSpPr>
            <a:spLocks noGrp="1"/>
          </p:cNvSpPr>
          <p:nvPr/>
        </p:nvSpPr>
        <p:spPr>
          <a:xfrm>
            <a:off x="647700" y="6238875"/>
            <a:ext cx="10896600" cy="0"/>
          </a:xfrm>
          <a:prstGeom prst="line">
            <a:avLst/>
          </a:prstGeom>
          <a:noFill/>
          <a:ln w="9525">
            <a:solidFill>
              <a:srgbClr val="D7E1E9"/>
            </a:solidFill>
          </a:ln>
        </p:spPr>
        <p:txBody>
          <a:bodyPr/>
          <a:lstStyle/>
          <a:p>
            <a:endParaRPr lang="en-GB" sz="2400"/>
          </a:p>
        </p:txBody>
      </p:sp>
      <p:sp>
        <p:nvSpPr>
          <p:cNvPr id="9" name="[Short paper title]">
            <a:extLst>
              <a:ext uri="{FF2B5EF4-FFF2-40B4-BE49-F238E27FC236}">
                <a16:creationId xmlns:a16="http://schemas.microsoft.com/office/drawing/2014/main" id="{BBC4145A-F4CD-4516-B1D3-65C427500D16}"/>
              </a:ext>
            </a:extLst>
          </p:cNvPr>
          <p:cNvSpPr>
            <a:spLocks noGrp="1"/>
          </p:cNvSpPr>
          <p:nvPr/>
        </p:nvSpPr>
        <p:spPr>
          <a:xfrm>
            <a:off x="647700" y="6419850"/>
            <a:ext cx="6429375" cy="340179"/>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r>
              <a:rPr lang="en-US" sz="2000" dirty="0">
                <a:solidFill>
                  <a:srgbClr val="627185"/>
                </a:solidFill>
                <a:latin typeface="Calibri"/>
                <a:ea typeface="Calibri"/>
                <a:cs typeface="Calibri"/>
              </a:rPr>
              <a:t> Semantic Communication for 6G</a:t>
            </a:r>
          </a:p>
        </p:txBody>
      </p:sp>
      <p:sp>
        <p:nvSpPr>
          <p:cNvPr id="10" name="Paper ID: [000]">
            <a:extLst>
              <a:ext uri="{FF2B5EF4-FFF2-40B4-BE49-F238E27FC236}">
                <a16:creationId xmlns:a16="http://schemas.microsoft.com/office/drawing/2014/main" id="{B70016D5-076D-467F-B58E-9D740BB96A1F}"/>
              </a:ext>
            </a:extLst>
          </p:cNvPr>
          <p:cNvSpPr>
            <a:spLocks noGrp="1"/>
          </p:cNvSpPr>
          <p:nvPr/>
        </p:nvSpPr>
        <p:spPr>
          <a:xfrm>
            <a:off x="8905875" y="6419850"/>
            <a:ext cx="2000250"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endParaRPr sz="2000" b="0" dirty="0">
              <a:solidFill>
                <a:srgbClr val="627185"/>
              </a:solidFill>
              <a:latin typeface="Calibri"/>
              <a:ea typeface="Calibri"/>
              <a:cs typeface="Calibri"/>
            </a:endParaRPr>
          </a:p>
        </p:txBody>
      </p:sp>
      <p:sp>
        <p:nvSpPr>
          <p:cNvPr id="11" name="08">
            <a:extLst>
              <a:ext uri="{FF2B5EF4-FFF2-40B4-BE49-F238E27FC236}">
                <a16:creationId xmlns:a16="http://schemas.microsoft.com/office/drawing/2014/main" id="{EE95AF9A-54C3-421D-B2EC-B9BB22699105}"/>
              </a:ext>
            </a:extLst>
          </p:cNvPr>
          <p:cNvSpPr>
            <a:spLocks noGrp="1"/>
          </p:cNvSpPr>
          <p:nvPr/>
        </p:nvSpPr>
        <p:spPr>
          <a:xfrm>
            <a:off x="11125200" y="6419850"/>
            <a:ext cx="419100" cy="219075"/>
          </a:xfrm>
          <a:prstGeom prst="rect">
            <a:avLst/>
          </a:prstGeom>
          <a:noFill/>
          <a:ln w="0">
            <a:noFill/>
          </a:ln>
        </p:spPr>
        <p:txBody>
          <a:bodyPr wrap="square" lIns="0" tIns="0" rIns="0" bIns="0" anchor="t">
            <a:noAutofit/>
          </a:bodyPr>
          <a:lstStyle/>
          <a:p>
            <a:pPr>
              <a:defRPr sz="1000" b="1">
                <a:solidFill>
                  <a:srgbClr val="0067A6"/>
                </a:solidFill>
                <a:latin typeface="Calibri"/>
                <a:ea typeface="Calibri"/>
                <a:cs typeface="Calibri"/>
              </a:defRPr>
            </a:pPr>
            <a:r>
              <a:rPr sz="2000" b="1">
                <a:solidFill>
                  <a:srgbClr val="0067A6"/>
                </a:solidFill>
                <a:latin typeface="Calibri"/>
                <a:ea typeface="Calibri"/>
                <a:cs typeface="Calibri"/>
              </a:rPr>
              <a:t>07</a:t>
            </a:r>
          </a:p>
        </p:txBody>
      </p:sp>
      <p:sp>
        <p:nvSpPr>
          <p:cNvPr id="12" name="Replace with research figure">
            <a:extLst>
              <a:ext uri="{FF2B5EF4-FFF2-40B4-BE49-F238E27FC236}">
                <a16:creationId xmlns:a16="http://schemas.microsoft.com/office/drawing/2014/main" id="{E323153A-18E8-42AB-90DE-A0D94646B9A6}"/>
              </a:ext>
            </a:extLst>
          </p:cNvPr>
          <p:cNvSpPr>
            <a:spLocks noGrp="1"/>
          </p:cNvSpPr>
          <p:nvPr/>
        </p:nvSpPr>
        <p:spPr>
          <a:xfrm>
            <a:off x="647700" y="2124075"/>
            <a:ext cx="7524750" cy="3238500"/>
          </a:xfrm>
          <a:prstGeom prst="rect">
            <a:avLst/>
          </a:prstGeom>
          <a:solidFill>
            <a:srgbClr val="FFFFFF"/>
          </a:solidFill>
          <a:ln w="9525">
            <a:solidFill>
              <a:srgbClr val="D7E1E9"/>
            </a:solidFill>
            <a:prstDash val="dash"/>
          </a:ln>
        </p:spPr>
        <p:txBody>
          <a:bodyPr/>
          <a:lstStyle/>
          <a:p>
            <a:endParaRPr lang="en-GB" sz="2400"/>
          </a:p>
        </p:txBody>
      </p:sp>
      <p:sp>
        <p:nvSpPr>
          <p:cNvPr id="13" name="[Insert your main results chart or figure]">
            <a:extLst>
              <a:ext uri="{FF2B5EF4-FFF2-40B4-BE49-F238E27FC236}">
                <a16:creationId xmlns:a16="http://schemas.microsoft.com/office/drawing/2014/main" id="{027A1C2E-1CEC-49D0-9AB3-F86C2B16AD3D}"/>
              </a:ext>
            </a:extLst>
          </p:cNvPr>
          <p:cNvSpPr>
            <a:spLocks noGrp="1"/>
          </p:cNvSpPr>
          <p:nvPr/>
        </p:nvSpPr>
        <p:spPr>
          <a:xfrm>
            <a:off x="904875" y="3362325"/>
            <a:ext cx="7048500" cy="762000"/>
          </a:xfrm>
          <a:prstGeom prst="rect">
            <a:avLst/>
          </a:prstGeom>
          <a:noFill/>
          <a:ln w="0">
            <a:noFill/>
          </a:ln>
        </p:spPr>
        <p:txBody>
          <a:bodyPr wrap="square" lIns="0" tIns="0" rIns="0" bIns="0" anchor="t">
            <a:noAutofit/>
          </a:bodyPr>
          <a:lstStyle/>
          <a:p>
            <a:pPr>
              <a:defRPr sz="1750" b="0">
                <a:solidFill>
                  <a:srgbClr val="627185"/>
                </a:solidFill>
                <a:latin typeface="Calibri"/>
                <a:ea typeface="Calibri"/>
                <a:cs typeface="Calibri"/>
              </a:defRPr>
            </a:pPr>
            <a:endParaRPr sz="2400" b="0" dirty="0">
              <a:solidFill>
                <a:srgbClr val="627185"/>
              </a:solidFill>
              <a:latin typeface="Calibri"/>
              <a:ea typeface="Calibri"/>
              <a:cs typeface="Calibri"/>
            </a:endParaRPr>
          </a:p>
        </p:txBody>
      </p:sp>
      <p:sp>
        <p:nvSpPr>
          <p:cNvPr id="14" name="Main finding">
            <a:extLst>
              <a:ext uri="{FF2B5EF4-FFF2-40B4-BE49-F238E27FC236}">
                <a16:creationId xmlns:a16="http://schemas.microsoft.com/office/drawing/2014/main" id="{1C2ED54F-162D-4E9B-9933-F350C957EB0F}"/>
              </a:ext>
            </a:extLst>
          </p:cNvPr>
          <p:cNvSpPr>
            <a:spLocks noGrp="1"/>
          </p:cNvSpPr>
          <p:nvPr/>
        </p:nvSpPr>
        <p:spPr>
          <a:xfrm>
            <a:off x="8667750" y="2143125"/>
            <a:ext cx="2809875" cy="409575"/>
          </a:xfrm>
          <a:prstGeom prst="rect">
            <a:avLst/>
          </a:prstGeom>
          <a:noFill/>
          <a:ln w="0">
            <a:noFill/>
          </a:ln>
        </p:spPr>
        <p:txBody>
          <a:bodyPr wrap="square" lIns="0" tIns="0" rIns="0" bIns="0" anchor="t">
            <a:noAutofit/>
          </a:bodyPr>
          <a:lstStyle/>
          <a:p>
            <a:pPr>
              <a:defRPr sz="1750" b="1">
                <a:solidFill>
                  <a:srgbClr val="0067A6"/>
                </a:solidFill>
                <a:latin typeface="Calibri"/>
                <a:ea typeface="Calibri"/>
                <a:cs typeface="Calibri"/>
              </a:defRPr>
            </a:pPr>
            <a:r>
              <a:rPr sz="2400" b="1" dirty="0">
                <a:solidFill>
                  <a:srgbClr val="0067A6"/>
                </a:solidFill>
                <a:latin typeface="Calibri"/>
                <a:ea typeface="Calibri"/>
                <a:cs typeface="Calibri"/>
              </a:rPr>
              <a:t>Main finding</a:t>
            </a:r>
          </a:p>
        </p:txBody>
      </p:sp>
      <p:sp>
        <p:nvSpPr>
          <p:cNvPr id="15" name="[State the result]&#10;&#10;[Explain what it means]">
            <a:extLst>
              <a:ext uri="{FF2B5EF4-FFF2-40B4-BE49-F238E27FC236}">
                <a16:creationId xmlns:a16="http://schemas.microsoft.com/office/drawing/2014/main" id="{3D1F8ADC-5BC0-41B3-AAB2-89296A8C39DF}"/>
              </a:ext>
            </a:extLst>
          </p:cNvPr>
          <p:cNvSpPr>
            <a:spLocks noGrp="1"/>
          </p:cNvSpPr>
          <p:nvPr/>
        </p:nvSpPr>
        <p:spPr>
          <a:xfrm>
            <a:off x="8667750" y="2743200"/>
            <a:ext cx="2809875" cy="2524125"/>
          </a:xfrm>
          <a:prstGeom prst="rect">
            <a:avLst/>
          </a:prstGeom>
          <a:noFill/>
          <a:ln w="0">
            <a:noFill/>
          </a:ln>
        </p:spPr>
        <p:txBody>
          <a:bodyPr wrap="square" lIns="0" tIns="0" rIns="0" bIns="0" anchor="t">
            <a:noAutofit/>
          </a:bodyPr>
          <a:lstStyle/>
          <a:p>
            <a:r>
              <a:rPr lang="en-US" sz="2000" dirty="0"/>
              <a:t>Semantic representation reduces the payload from 536 bits to 224 bits, a reduction of 58.21% which is comparatively better than a conventional representation.</a:t>
            </a:r>
          </a:p>
        </p:txBody>
      </p:sp>
      <p:pic>
        <p:nvPicPr>
          <p:cNvPr id="4" name="Picture 3">
            <a:extLst>
              <a:ext uri="{FF2B5EF4-FFF2-40B4-BE49-F238E27FC236}">
                <a16:creationId xmlns:a16="http://schemas.microsoft.com/office/drawing/2014/main" id="{AD5B182A-56A4-9191-3EAF-B994758DFEF2}"/>
              </a:ext>
            </a:extLst>
          </p:cNvPr>
          <p:cNvPicPr>
            <a:picLocks noChangeAspect="1"/>
          </p:cNvPicPr>
          <p:nvPr/>
        </p:nvPicPr>
        <p:blipFill>
          <a:blip r:embed="rId5"/>
          <a:stretch>
            <a:fillRect/>
          </a:stretch>
        </p:blipFill>
        <p:spPr>
          <a:xfrm>
            <a:off x="743445" y="2114550"/>
            <a:ext cx="7371359" cy="3679930"/>
          </a:xfrm>
          <a:prstGeom prst="rect">
            <a:avLst/>
          </a:prstGeom>
        </p:spPr>
      </p:pic>
      <p:pic>
        <p:nvPicPr>
          <p:cNvPr id="5" name="Audio 4">
            <a:hlinkClick r:id="" action="ppaction://media"/>
            <a:extLst>
              <a:ext uri="{FF2B5EF4-FFF2-40B4-BE49-F238E27FC236}">
                <a16:creationId xmlns:a16="http://schemas.microsoft.com/office/drawing/2014/main" id="{D8BE2674-C5B9-DDB4-11B7-CCEE4D642EE1}"/>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325000" t="-160938" r="-325000" b="-160938"/>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305531005"/>
      </p:ext>
    </p:extLst>
  </p:cSld>
  <p:clrMapOvr>
    <a:masterClrMapping/>
  </p:clrMapOvr>
  <mc:AlternateContent xmlns:mc="http://schemas.openxmlformats.org/markup-compatibility/2006">
    <mc:Choice xmlns:p14="http://schemas.microsoft.com/office/powerpoint/2010/main" Requires="p14">
      <p:transition spd="slow" p14:dur="2000" advTm="39941"/>
    </mc:Choice>
    <mc:Fallback>
      <p:transition spd="slow" advTm="3994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Quantitative comparison">
            <a:extLst>
              <a:ext uri="{FF2B5EF4-FFF2-40B4-BE49-F238E27FC236}">
                <a16:creationId xmlns:a16="http://schemas.microsoft.com/office/drawing/2014/main" id="{7EC6AECF-D721-4012-8CA6-E273CE77D30C}"/>
              </a:ext>
            </a:extLst>
          </p:cNvPr>
          <p:cNvSpPr>
            <a:spLocks noGrp="1"/>
          </p:cNvSpPr>
          <p:nvPr/>
        </p:nvSpPr>
        <p:spPr>
          <a:xfrm>
            <a:off x="647700" y="1181100"/>
            <a:ext cx="10810875" cy="628650"/>
          </a:xfrm>
          <a:prstGeom prst="rect">
            <a:avLst/>
          </a:prstGeom>
          <a:noFill/>
          <a:ln w="0">
            <a:noFill/>
          </a:ln>
        </p:spPr>
        <p:txBody>
          <a:bodyPr wrap="square" lIns="0" tIns="0" rIns="0" bIns="0" anchor="t">
            <a:noAutofit/>
          </a:bodyPr>
          <a:lstStyle/>
          <a:p>
            <a:pPr>
              <a:defRPr sz="2900" b="1">
                <a:solidFill>
                  <a:srgbClr val="12263D"/>
                </a:solidFill>
                <a:latin typeface="Calibri"/>
                <a:ea typeface="Calibri"/>
                <a:cs typeface="Calibri"/>
              </a:defRPr>
            </a:pPr>
            <a:r>
              <a:rPr sz="3600" b="1" dirty="0">
                <a:solidFill>
                  <a:srgbClr val="12263D"/>
                </a:solidFill>
                <a:latin typeface="Calibri"/>
                <a:ea typeface="Calibri"/>
                <a:cs typeface="Calibri"/>
              </a:rPr>
              <a:t>Quantitative </a:t>
            </a:r>
            <a:r>
              <a:rPr lang="en-US" sz="3600" b="1" dirty="0">
                <a:solidFill>
                  <a:srgbClr val="12263D"/>
                </a:solidFill>
                <a:latin typeface="Calibri"/>
                <a:ea typeface="Calibri"/>
                <a:cs typeface="Calibri"/>
              </a:rPr>
              <a:t>C</a:t>
            </a:r>
            <a:r>
              <a:rPr sz="3600" b="1" dirty="0">
                <a:solidFill>
                  <a:srgbClr val="12263D"/>
                </a:solidFill>
                <a:latin typeface="Calibri"/>
                <a:ea typeface="Calibri"/>
                <a:cs typeface="Calibri"/>
              </a:rPr>
              <a:t>omparison</a:t>
            </a:r>
          </a:p>
        </p:txBody>
      </p:sp>
      <p:sp>
        <p:nvSpPr>
          <p:cNvPr id="7" name="Straight Connector 6">
            <a:extLst>
              <a:ext uri="{FF2B5EF4-FFF2-40B4-BE49-F238E27FC236}">
                <a16:creationId xmlns:a16="http://schemas.microsoft.com/office/drawing/2014/main" id="{4DB851D2-8538-4741-A702-786141D94188}"/>
              </a:ext>
            </a:extLst>
          </p:cNvPr>
          <p:cNvSpPr>
            <a:spLocks noGrp="1"/>
          </p:cNvSpPr>
          <p:nvPr/>
        </p:nvSpPr>
        <p:spPr>
          <a:xfrm>
            <a:off x="647700" y="1933575"/>
            <a:ext cx="10896600" cy="0"/>
          </a:xfrm>
          <a:prstGeom prst="line">
            <a:avLst/>
          </a:prstGeom>
          <a:noFill/>
          <a:ln w="9525">
            <a:solidFill>
              <a:srgbClr val="D7E1E9"/>
            </a:solidFill>
          </a:ln>
        </p:spPr>
        <p:txBody>
          <a:bodyPr/>
          <a:lstStyle/>
          <a:p>
            <a:endParaRPr lang="en-GB" sz="2400"/>
          </a:p>
        </p:txBody>
      </p:sp>
      <p:sp>
        <p:nvSpPr>
          <p:cNvPr id="8" name="Straight Connector 7">
            <a:extLst>
              <a:ext uri="{FF2B5EF4-FFF2-40B4-BE49-F238E27FC236}">
                <a16:creationId xmlns:a16="http://schemas.microsoft.com/office/drawing/2014/main" id="{92C7A7BA-39E4-49C0-911F-5B98D5B2FDC9}"/>
              </a:ext>
            </a:extLst>
          </p:cNvPr>
          <p:cNvSpPr>
            <a:spLocks noGrp="1"/>
          </p:cNvSpPr>
          <p:nvPr/>
        </p:nvSpPr>
        <p:spPr>
          <a:xfrm>
            <a:off x="647700" y="6238875"/>
            <a:ext cx="10896600" cy="0"/>
          </a:xfrm>
          <a:prstGeom prst="line">
            <a:avLst/>
          </a:prstGeom>
          <a:noFill/>
          <a:ln w="9525">
            <a:solidFill>
              <a:srgbClr val="D7E1E9"/>
            </a:solidFill>
          </a:ln>
        </p:spPr>
        <p:txBody>
          <a:bodyPr/>
          <a:lstStyle/>
          <a:p>
            <a:endParaRPr lang="en-GB" sz="2000"/>
          </a:p>
        </p:txBody>
      </p:sp>
      <p:sp>
        <p:nvSpPr>
          <p:cNvPr id="9" name="[Short paper title]">
            <a:extLst>
              <a:ext uri="{FF2B5EF4-FFF2-40B4-BE49-F238E27FC236}">
                <a16:creationId xmlns:a16="http://schemas.microsoft.com/office/drawing/2014/main" id="{4C59B0D8-2041-4F90-B71E-381948461D86}"/>
              </a:ext>
            </a:extLst>
          </p:cNvPr>
          <p:cNvSpPr>
            <a:spLocks noGrp="1"/>
          </p:cNvSpPr>
          <p:nvPr/>
        </p:nvSpPr>
        <p:spPr>
          <a:xfrm>
            <a:off x="647700" y="6419850"/>
            <a:ext cx="6429375" cy="351059"/>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r>
              <a:rPr lang="en-US" sz="2000" dirty="0">
                <a:solidFill>
                  <a:srgbClr val="627185"/>
                </a:solidFill>
                <a:latin typeface="Calibri"/>
                <a:ea typeface="Calibri"/>
                <a:cs typeface="Calibri"/>
              </a:rPr>
              <a:t> Semantic Communication for 6G</a:t>
            </a:r>
          </a:p>
        </p:txBody>
      </p:sp>
      <p:sp>
        <p:nvSpPr>
          <p:cNvPr id="10" name="Paper ID: [000]">
            <a:extLst>
              <a:ext uri="{FF2B5EF4-FFF2-40B4-BE49-F238E27FC236}">
                <a16:creationId xmlns:a16="http://schemas.microsoft.com/office/drawing/2014/main" id="{E45360E0-D030-4009-81D1-0729955E6E75}"/>
              </a:ext>
            </a:extLst>
          </p:cNvPr>
          <p:cNvSpPr>
            <a:spLocks noGrp="1"/>
          </p:cNvSpPr>
          <p:nvPr/>
        </p:nvSpPr>
        <p:spPr>
          <a:xfrm>
            <a:off x="8905875" y="6419850"/>
            <a:ext cx="2000250"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endParaRPr sz="2000" b="0" dirty="0">
              <a:solidFill>
                <a:srgbClr val="627185"/>
              </a:solidFill>
              <a:latin typeface="Calibri"/>
              <a:ea typeface="Calibri"/>
              <a:cs typeface="Calibri"/>
            </a:endParaRPr>
          </a:p>
        </p:txBody>
      </p:sp>
      <p:sp>
        <p:nvSpPr>
          <p:cNvPr id="11" name="09">
            <a:extLst>
              <a:ext uri="{FF2B5EF4-FFF2-40B4-BE49-F238E27FC236}">
                <a16:creationId xmlns:a16="http://schemas.microsoft.com/office/drawing/2014/main" id="{A00F2F52-D8A4-42BA-B1D2-E8279C6CD605}"/>
              </a:ext>
            </a:extLst>
          </p:cNvPr>
          <p:cNvSpPr>
            <a:spLocks noGrp="1"/>
          </p:cNvSpPr>
          <p:nvPr/>
        </p:nvSpPr>
        <p:spPr>
          <a:xfrm>
            <a:off x="11125200" y="6419850"/>
            <a:ext cx="419100" cy="219075"/>
          </a:xfrm>
          <a:prstGeom prst="rect">
            <a:avLst/>
          </a:prstGeom>
          <a:noFill/>
          <a:ln w="0">
            <a:noFill/>
          </a:ln>
        </p:spPr>
        <p:txBody>
          <a:bodyPr wrap="square" lIns="0" tIns="0" rIns="0" bIns="0" anchor="t">
            <a:noAutofit/>
          </a:bodyPr>
          <a:lstStyle/>
          <a:p>
            <a:pPr>
              <a:defRPr sz="1000" b="1">
                <a:solidFill>
                  <a:srgbClr val="0067A6"/>
                </a:solidFill>
                <a:latin typeface="Calibri"/>
                <a:ea typeface="Calibri"/>
                <a:cs typeface="Calibri"/>
              </a:defRPr>
            </a:pPr>
            <a:r>
              <a:rPr sz="2000" b="1">
                <a:solidFill>
                  <a:srgbClr val="0067A6"/>
                </a:solidFill>
                <a:latin typeface="Calibri"/>
                <a:ea typeface="Calibri"/>
                <a:cs typeface="Calibri"/>
              </a:rPr>
              <a:t>08</a:t>
            </a:r>
          </a:p>
        </p:txBody>
      </p:sp>
      <p:graphicFrame>
        <p:nvGraphicFramePr>
          <p:cNvPr id="25" name="Table 24"/>
          <p:cNvGraphicFramePr/>
          <p:nvPr>
            <p:extLst>
              <p:ext uri="{D42A27DB-BD31-4B8C-83A1-F6EECF244321}">
                <p14:modId xmlns:p14="http://schemas.microsoft.com/office/powerpoint/2010/main" val="927435835"/>
              </p:ext>
            </p:extLst>
          </p:nvPr>
        </p:nvGraphicFramePr>
        <p:xfrm>
          <a:off x="666750" y="2171700"/>
          <a:ext cx="10820400" cy="2204086"/>
        </p:xfrm>
        <a:graphic>
          <a:graphicData uri="http://schemas.openxmlformats.org/drawingml/2006/table">
            <a:tbl>
              <a:tblPr/>
              <a:tblGrid>
                <a:gridCol w="3905250">
                  <a:extLst>
                    <a:ext uri="{9D8B030D-6E8A-4147-A177-3AD203B41FA5}">
                      <a16:colId xmlns:a16="http://schemas.microsoft.com/office/drawing/2014/main" val="20000"/>
                    </a:ext>
                  </a:extLst>
                </a:gridCol>
                <a:gridCol w="2305050">
                  <a:extLst>
                    <a:ext uri="{9D8B030D-6E8A-4147-A177-3AD203B41FA5}">
                      <a16:colId xmlns:a16="http://schemas.microsoft.com/office/drawing/2014/main" val="20001"/>
                    </a:ext>
                  </a:extLst>
                </a:gridCol>
                <a:gridCol w="2305050">
                  <a:extLst>
                    <a:ext uri="{9D8B030D-6E8A-4147-A177-3AD203B41FA5}">
                      <a16:colId xmlns:a16="http://schemas.microsoft.com/office/drawing/2014/main" val="20002"/>
                    </a:ext>
                  </a:extLst>
                </a:gridCol>
                <a:gridCol w="2305050">
                  <a:extLst>
                    <a:ext uri="{9D8B030D-6E8A-4147-A177-3AD203B41FA5}">
                      <a16:colId xmlns:a16="http://schemas.microsoft.com/office/drawing/2014/main" val="20003"/>
                    </a:ext>
                  </a:extLst>
                </a:gridCol>
              </a:tblGrid>
              <a:tr h="690563">
                <a:tc>
                  <a:txBody>
                    <a:bodyPr/>
                    <a:lstStyle/>
                    <a:p>
                      <a:r>
                        <a:rPr sz="2400" b="1" dirty="0">
                          <a:solidFill>
                            <a:srgbClr val="FFFFFF"/>
                          </a:solidFill>
                          <a:latin typeface="Calibri"/>
                          <a:ea typeface="Calibri"/>
                          <a:cs typeface="Calibri"/>
                        </a:rPr>
                        <a:t>Method</a:t>
                      </a:r>
                    </a:p>
                  </a:txBody>
                  <a:tcPr anchor="ctr">
                    <a:solidFill>
                      <a:srgbClr val="0067A6"/>
                    </a:solidFill>
                  </a:tcPr>
                </a:tc>
                <a:tc>
                  <a:txBody>
                    <a:bodyPr/>
                    <a:lstStyle/>
                    <a:p>
                      <a:r>
                        <a:rPr lang="en-US" sz="2400" b="1" dirty="0">
                          <a:solidFill>
                            <a:srgbClr val="FFFFFF"/>
                          </a:solidFill>
                          <a:latin typeface="Calibri"/>
                          <a:ea typeface="Calibri"/>
                          <a:cs typeface="Calibri"/>
                        </a:rPr>
                        <a:t>Payload</a:t>
                      </a:r>
                      <a:endParaRPr sz="2400" b="1" dirty="0">
                        <a:solidFill>
                          <a:srgbClr val="FFFFFF"/>
                        </a:solidFill>
                        <a:latin typeface="Calibri"/>
                        <a:ea typeface="Calibri"/>
                        <a:cs typeface="Calibri"/>
                      </a:endParaRPr>
                    </a:p>
                  </a:txBody>
                  <a:tcPr anchor="ctr">
                    <a:solidFill>
                      <a:srgbClr val="0067A6"/>
                    </a:solidFill>
                  </a:tcPr>
                </a:tc>
                <a:tc>
                  <a:txBody>
                    <a:bodyPr/>
                    <a:lstStyle/>
                    <a:p>
                      <a:r>
                        <a:rPr lang="en-US" sz="2400" b="1" dirty="0">
                          <a:solidFill>
                            <a:srgbClr val="FFFFFF"/>
                          </a:solidFill>
                          <a:latin typeface="Calibri"/>
                          <a:ea typeface="Calibri"/>
                          <a:cs typeface="Calibri"/>
                        </a:rPr>
                        <a:t>Success at 30% loss</a:t>
                      </a:r>
                      <a:endParaRPr sz="2400" b="1" dirty="0">
                        <a:solidFill>
                          <a:srgbClr val="FFFFFF"/>
                        </a:solidFill>
                        <a:latin typeface="Calibri"/>
                        <a:ea typeface="Calibri"/>
                        <a:cs typeface="Calibri"/>
                      </a:endParaRPr>
                    </a:p>
                  </a:txBody>
                  <a:tcPr anchor="ctr">
                    <a:solidFill>
                      <a:srgbClr val="0067A6"/>
                    </a:solidFill>
                  </a:tcPr>
                </a:tc>
                <a:tc>
                  <a:txBody>
                    <a:bodyPr/>
                    <a:lstStyle/>
                    <a:p>
                      <a:r>
                        <a:rPr lang="en-US" sz="2400" b="1" dirty="0">
                          <a:solidFill>
                            <a:srgbClr val="FFFFFF"/>
                          </a:solidFill>
                          <a:latin typeface="Calibri"/>
                          <a:ea typeface="Calibri"/>
                          <a:cs typeface="Calibri"/>
                        </a:rPr>
                        <a:t>Payload reduction</a:t>
                      </a:r>
                      <a:endParaRPr sz="2400" b="1" dirty="0">
                        <a:solidFill>
                          <a:srgbClr val="FFFFFF"/>
                        </a:solidFill>
                        <a:latin typeface="Calibri"/>
                        <a:ea typeface="Calibri"/>
                        <a:cs typeface="Calibri"/>
                      </a:endParaRPr>
                    </a:p>
                  </a:txBody>
                  <a:tcPr anchor="ctr">
                    <a:solidFill>
                      <a:srgbClr val="0067A6"/>
                    </a:solidFill>
                  </a:tcPr>
                </a:tc>
                <a:extLst>
                  <a:ext uri="{0D108BD9-81ED-4DB2-BD59-A6C34878D82A}">
                    <a16:rowId xmlns:a16="http://schemas.microsoft.com/office/drawing/2014/main" val="10000"/>
                  </a:ext>
                </a:extLst>
              </a:tr>
              <a:tr h="690563">
                <a:tc>
                  <a:txBody>
                    <a:bodyPr/>
                    <a:lstStyle/>
                    <a:p>
                      <a:r>
                        <a:rPr lang="en-US" sz="2400" dirty="0"/>
                        <a:t>Logistic Regression</a:t>
                      </a:r>
                      <a:endParaRPr sz="2400" b="0" dirty="0">
                        <a:solidFill>
                          <a:srgbClr val="12263D"/>
                        </a:solidFill>
                        <a:latin typeface="Calibri"/>
                        <a:ea typeface="Calibri"/>
                        <a:cs typeface="Calibri"/>
                      </a:endParaRPr>
                    </a:p>
                  </a:txBody>
                  <a:tcPr anchor="ctr">
                    <a:solidFill>
                      <a:srgbClr val="FFFFFF"/>
                    </a:solidFill>
                  </a:tcPr>
                </a:tc>
                <a:tc>
                  <a:txBody>
                    <a:bodyPr/>
                    <a:lstStyle/>
                    <a:p>
                      <a:r>
                        <a:rPr lang="en-US" sz="2400" b="0" dirty="0">
                          <a:solidFill>
                            <a:srgbClr val="12263D"/>
                          </a:solidFill>
                          <a:latin typeface="Calibri"/>
                          <a:ea typeface="Calibri"/>
                          <a:cs typeface="Calibri"/>
                        </a:rPr>
                        <a:t>536</a:t>
                      </a:r>
                      <a:endParaRPr sz="2400" b="0" dirty="0">
                        <a:solidFill>
                          <a:srgbClr val="12263D"/>
                        </a:solidFill>
                        <a:latin typeface="Calibri"/>
                        <a:ea typeface="Calibri"/>
                        <a:cs typeface="Calibri"/>
                      </a:endParaRPr>
                    </a:p>
                  </a:txBody>
                  <a:tcPr anchor="ctr">
                    <a:solidFill>
                      <a:srgbClr val="FFFFFF"/>
                    </a:solidFill>
                  </a:tcPr>
                </a:tc>
                <a:tc>
                  <a:txBody>
                    <a:bodyPr/>
                    <a:lstStyle/>
                    <a:p>
                      <a:r>
                        <a:rPr lang="en-US" sz="2400" b="0" dirty="0">
                          <a:solidFill>
                            <a:srgbClr val="12263D"/>
                          </a:solidFill>
                          <a:latin typeface="Calibri"/>
                          <a:ea typeface="Calibri"/>
                          <a:cs typeface="Calibri"/>
                        </a:rPr>
                        <a:t>69.93%</a:t>
                      </a:r>
                      <a:endParaRPr sz="2400" b="0" dirty="0">
                        <a:solidFill>
                          <a:srgbClr val="12263D"/>
                        </a:solidFill>
                        <a:latin typeface="Calibri"/>
                        <a:ea typeface="Calibri"/>
                        <a:cs typeface="Calibri"/>
                      </a:endParaRPr>
                    </a:p>
                  </a:txBody>
                  <a:tcPr anchor="ctr">
                    <a:solidFill>
                      <a:srgbClr val="FFFFFF"/>
                    </a:solidFill>
                  </a:tcPr>
                </a:tc>
                <a:tc>
                  <a:txBody>
                    <a:bodyPr/>
                    <a:lstStyle/>
                    <a:p>
                      <a:r>
                        <a:rPr lang="en-US" sz="2400" b="0" dirty="0">
                          <a:solidFill>
                            <a:srgbClr val="12263D"/>
                          </a:solidFill>
                          <a:latin typeface="Calibri"/>
                          <a:ea typeface="Calibri"/>
                          <a:cs typeface="Calibri"/>
                        </a:rPr>
                        <a:t>0%</a:t>
                      </a:r>
                      <a:endParaRPr sz="2400" b="0" dirty="0">
                        <a:solidFill>
                          <a:srgbClr val="12263D"/>
                        </a:solidFill>
                        <a:latin typeface="Calibri"/>
                        <a:ea typeface="Calibri"/>
                        <a:cs typeface="Calibri"/>
                      </a:endParaRPr>
                    </a:p>
                  </a:txBody>
                  <a:tcPr anchor="ctr">
                    <a:solidFill>
                      <a:srgbClr val="FFFFFF"/>
                    </a:solidFill>
                  </a:tcPr>
                </a:tc>
                <a:extLst>
                  <a:ext uri="{0D108BD9-81ED-4DB2-BD59-A6C34878D82A}">
                    <a16:rowId xmlns:a16="http://schemas.microsoft.com/office/drawing/2014/main" val="10001"/>
                  </a:ext>
                </a:extLst>
              </a:tr>
              <a:tr h="690563">
                <a:tc>
                  <a:txBody>
                    <a:bodyPr/>
                    <a:lstStyle/>
                    <a:p>
                      <a:r>
                        <a:rPr lang="en-US" sz="2400" dirty="0"/>
                        <a:t>SVM</a:t>
                      </a:r>
                      <a:endParaRPr sz="2400" b="0" dirty="0">
                        <a:solidFill>
                          <a:srgbClr val="12263D"/>
                        </a:solidFill>
                        <a:latin typeface="Calibri"/>
                        <a:ea typeface="Calibri"/>
                        <a:cs typeface="Calibri"/>
                      </a:endParaRPr>
                    </a:p>
                  </a:txBody>
                  <a:tcPr anchor="ctr">
                    <a:solidFill>
                      <a:srgbClr val="FFFFFF"/>
                    </a:solidFill>
                  </a:tcPr>
                </a:tc>
                <a:tc>
                  <a:txBody>
                    <a:bodyPr/>
                    <a:lstStyle/>
                    <a:p>
                      <a:r>
                        <a:rPr lang="en-US" sz="2400" b="0" dirty="0">
                          <a:solidFill>
                            <a:srgbClr val="12263D"/>
                          </a:solidFill>
                          <a:latin typeface="Calibri"/>
                          <a:ea typeface="Calibri"/>
                          <a:cs typeface="Calibri"/>
                        </a:rPr>
                        <a:t>224</a:t>
                      </a:r>
                      <a:endParaRPr sz="2400" b="0" dirty="0">
                        <a:solidFill>
                          <a:srgbClr val="12263D"/>
                        </a:solidFill>
                        <a:latin typeface="Calibri"/>
                        <a:ea typeface="Calibri"/>
                        <a:cs typeface="Calibri"/>
                      </a:endParaRPr>
                    </a:p>
                  </a:txBody>
                  <a:tcPr anchor="ctr">
                    <a:solidFill>
                      <a:srgbClr val="FFFFFF"/>
                    </a:solidFill>
                  </a:tcPr>
                </a:tc>
                <a:tc>
                  <a:txBody>
                    <a:bodyPr/>
                    <a:lstStyle/>
                    <a:p>
                      <a:r>
                        <a:rPr lang="en-US" sz="2400" b="0" dirty="0">
                          <a:solidFill>
                            <a:srgbClr val="12263D"/>
                          </a:solidFill>
                          <a:latin typeface="Calibri"/>
                          <a:ea typeface="Calibri"/>
                          <a:cs typeface="Calibri"/>
                        </a:rPr>
                        <a:t>34.05%</a:t>
                      </a:r>
                      <a:endParaRPr sz="2400" b="0" dirty="0">
                        <a:solidFill>
                          <a:srgbClr val="12263D"/>
                        </a:solidFill>
                        <a:latin typeface="Calibri"/>
                        <a:ea typeface="Calibri"/>
                        <a:cs typeface="Calibri"/>
                      </a:endParaRPr>
                    </a:p>
                  </a:txBody>
                  <a:tcPr anchor="ctr">
                    <a:solidFill>
                      <a:srgbClr val="FFFFFF"/>
                    </a:solidFill>
                  </a:tcPr>
                </a:tc>
                <a:tc>
                  <a:txBody>
                    <a:bodyPr/>
                    <a:lstStyle/>
                    <a:p>
                      <a:r>
                        <a:rPr lang="en-US" sz="2400" b="0" dirty="0">
                          <a:solidFill>
                            <a:srgbClr val="12263D"/>
                          </a:solidFill>
                          <a:latin typeface="Calibri"/>
                          <a:ea typeface="Calibri"/>
                          <a:cs typeface="Calibri"/>
                        </a:rPr>
                        <a:t>58.21%</a:t>
                      </a:r>
                      <a:endParaRPr sz="2400" b="0" dirty="0">
                        <a:solidFill>
                          <a:srgbClr val="12263D"/>
                        </a:solidFill>
                        <a:latin typeface="Calibri"/>
                        <a:ea typeface="Calibri"/>
                        <a:cs typeface="Calibri"/>
                      </a:endParaRPr>
                    </a:p>
                  </a:txBody>
                  <a:tcPr anchor="ctr">
                    <a:solidFill>
                      <a:srgbClr val="FFFFFF"/>
                    </a:solidFill>
                  </a:tcPr>
                </a:tc>
                <a:extLst>
                  <a:ext uri="{0D108BD9-81ED-4DB2-BD59-A6C34878D82A}">
                    <a16:rowId xmlns:a16="http://schemas.microsoft.com/office/drawing/2014/main" val="10002"/>
                  </a:ext>
                </a:extLst>
              </a:tr>
            </a:tbl>
          </a:graphicData>
        </a:graphic>
      </p:graphicFrame>
      <p:sp>
        <p:nvSpPr>
          <p:cNvPr id="13" name="[One sentence explaining the key comparison]">
            <a:extLst>
              <a:ext uri="{FF2B5EF4-FFF2-40B4-BE49-F238E27FC236}">
                <a16:creationId xmlns:a16="http://schemas.microsoft.com/office/drawing/2014/main" id="{C6CFD331-7D39-43BF-B7AB-10EE67B565BB}"/>
              </a:ext>
            </a:extLst>
          </p:cNvPr>
          <p:cNvSpPr>
            <a:spLocks noGrp="1"/>
          </p:cNvSpPr>
          <p:nvPr/>
        </p:nvSpPr>
        <p:spPr>
          <a:xfrm>
            <a:off x="647700" y="4815568"/>
            <a:ext cx="10572750" cy="666750"/>
          </a:xfrm>
          <a:prstGeom prst="rect">
            <a:avLst/>
          </a:prstGeom>
          <a:noFill/>
          <a:ln w="0">
            <a:noFill/>
          </a:ln>
        </p:spPr>
        <p:txBody>
          <a:bodyPr wrap="square" lIns="0" tIns="0" rIns="0" bIns="0" anchor="t">
            <a:noAutofit/>
          </a:bodyPr>
          <a:lstStyle/>
          <a:p>
            <a:pPr algn="just">
              <a:defRPr sz="2050" b="1">
                <a:solidFill>
                  <a:srgbClr val="0067A6"/>
                </a:solidFill>
                <a:latin typeface="Calibri"/>
                <a:ea typeface="Calibri"/>
                <a:cs typeface="Calibri"/>
              </a:defRPr>
            </a:pPr>
            <a:r>
              <a:rPr lang="en-US" sz="2000" b="1" dirty="0">
                <a:solidFill>
                  <a:srgbClr val="0067A6"/>
                </a:solidFill>
                <a:latin typeface="Calibri"/>
                <a:ea typeface="Calibri"/>
                <a:cs typeface="Calibri"/>
              </a:rPr>
              <a:t> Semantic transmission reduces the payload by 58.21% but under the current three-packet success condition, its task success rate at 30% packet loss is 35.78% points lower than that of conventional method.</a:t>
            </a:r>
            <a:endParaRPr sz="2000" b="1" dirty="0">
              <a:solidFill>
                <a:srgbClr val="0067A6"/>
              </a:solidFill>
              <a:latin typeface="Calibri"/>
              <a:ea typeface="Calibri"/>
              <a:cs typeface="Calibri"/>
            </a:endParaRPr>
          </a:p>
        </p:txBody>
      </p:sp>
      <p:pic>
        <p:nvPicPr>
          <p:cNvPr id="2" name="Audio 1">
            <a:hlinkClick r:id="" action="ppaction://media"/>
            <a:extLst>
              <a:ext uri="{FF2B5EF4-FFF2-40B4-BE49-F238E27FC236}">
                <a16:creationId xmlns:a16="http://schemas.microsoft.com/office/drawing/2014/main" id="{4165CBF8-3F4D-0D1B-65C2-EC91B1C41A74}"/>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325000" t="-160938" r="-325000" b="-160938"/>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3180696311"/>
      </p:ext>
    </p:extLst>
  </p:cSld>
  <p:clrMapOvr>
    <a:masterClrMapping/>
  </p:clrMapOvr>
  <mc:AlternateContent xmlns:mc="http://schemas.openxmlformats.org/markup-compatibility/2006">
    <mc:Choice xmlns:p14="http://schemas.microsoft.com/office/powerpoint/2010/main" Requires="p14">
      <p:transition spd="slow" p14:dur="2000" advTm="47968"/>
    </mc:Choice>
    <mc:Fallback>
      <p:transition spd="slow" advTm="4796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Conclusion and future work">
            <a:extLst>
              <a:ext uri="{FF2B5EF4-FFF2-40B4-BE49-F238E27FC236}">
                <a16:creationId xmlns:a16="http://schemas.microsoft.com/office/drawing/2014/main" id="{7F89A1F1-414D-4328-92FC-3A6A90C4B6E4}"/>
              </a:ext>
            </a:extLst>
          </p:cNvPr>
          <p:cNvSpPr>
            <a:spLocks noGrp="1"/>
          </p:cNvSpPr>
          <p:nvPr/>
        </p:nvSpPr>
        <p:spPr>
          <a:xfrm>
            <a:off x="647700" y="1181100"/>
            <a:ext cx="10810875" cy="628650"/>
          </a:xfrm>
          <a:prstGeom prst="rect">
            <a:avLst/>
          </a:prstGeom>
          <a:noFill/>
          <a:ln w="0">
            <a:noFill/>
          </a:ln>
        </p:spPr>
        <p:txBody>
          <a:bodyPr wrap="square" lIns="0" tIns="0" rIns="0" bIns="0" anchor="t">
            <a:noAutofit/>
          </a:bodyPr>
          <a:lstStyle/>
          <a:p>
            <a:pPr>
              <a:defRPr sz="2900" b="1">
                <a:solidFill>
                  <a:srgbClr val="12263D"/>
                </a:solidFill>
                <a:latin typeface="Calibri"/>
                <a:ea typeface="Calibri"/>
                <a:cs typeface="Calibri"/>
              </a:defRPr>
            </a:pPr>
            <a:r>
              <a:rPr sz="3600" b="1" dirty="0">
                <a:solidFill>
                  <a:srgbClr val="12263D"/>
                </a:solidFill>
                <a:latin typeface="Calibri"/>
                <a:ea typeface="Calibri"/>
                <a:cs typeface="Calibri"/>
              </a:rPr>
              <a:t>Conclusion</a:t>
            </a:r>
            <a:r>
              <a:rPr lang="en-GB" sz="3600" b="1" dirty="0">
                <a:solidFill>
                  <a:srgbClr val="12263D"/>
                </a:solidFill>
                <a:latin typeface="Calibri"/>
                <a:ea typeface="Calibri"/>
                <a:cs typeface="Calibri"/>
              </a:rPr>
              <a:t>s</a:t>
            </a:r>
            <a:r>
              <a:rPr sz="3600" b="1" dirty="0">
                <a:solidFill>
                  <a:srgbClr val="12263D"/>
                </a:solidFill>
                <a:latin typeface="Calibri"/>
                <a:ea typeface="Calibri"/>
                <a:cs typeface="Calibri"/>
              </a:rPr>
              <a:t> and </a:t>
            </a:r>
            <a:r>
              <a:rPr lang="en-GB" sz="3600" b="1" dirty="0">
                <a:solidFill>
                  <a:srgbClr val="12263D"/>
                </a:solidFill>
                <a:latin typeface="Calibri"/>
                <a:ea typeface="Calibri"/>
                <a:cs typeface="Calibri"/>
              </a:rPr>
              <a:t>F</a:t>
            </a:r>
            <a:r>
              <a:rPr sz="3600" b="1" dirty="0" err="1">
                <a:solidFill>
                  <a:srgbClr val="12263D"/>
                </a:solidFill>
                <a:latin typeface="Calibri"/>
                <a:ea typeface="Calibri"/>
                <a:cs typeface="Calibri"/>
              </a:rPr>
              <a:t>uture</a:t>
            </a:r>
            <a:r>
              <a:rPr sz="3600" b="1" dirty="0">
                <a:solidFill>
                  <a:srgbClr val="12263D"/>
                </a:solidFill>
                <a:latin typeface="Calibri"/>
                <a:ea typeface="Calibri"/>
                <a:cs typeface="Calibri"/>
              </a:rPr>
              <a:t> work</a:t>
            </a:r>
          </a:p>
        </p:txBody>
      </p:sp>
      <p:sp>
        <p:nvSpPr>
          <p:cNvPr id="7" name="Straight Connector 6">
            <a:extLst>
              <a:ext uri="{FF2B5EF4-FFF2-40B4-BE49-F238E27FC236}">
                <a16:creationId xmlns:a16="http://schemas.microsoft.com/office/drawing/2014/main" id="{20CAEAF6-D486-4770-BA3C-99BEBFF275D3}"/>
              </a:ext>
            </a:extLst>
          </p:cNvPr>
          <p:cNvSpPr>
            <a:spLocks noGrp="1"/>
          </p:cNvSpPr>
          <p:nvPr/>
        </p:nvSpPr>
        <p:spPr>
          <a:xfrm>
            <a:off x="647700" y="1933575"/>
            <a:ext cx="10896600" cy="0"/>
          </a:xfrm>
          <a:prstGeom prst="line">
            <a:avLst/>
          </a:prstGeom>
          <a:noFill/>
          <a:ln w="9525">
            <a:solidFill>
              <a:srgbClr val="D7E1E9"/>
            </a:solidFill>
          </a:ln>
        </p:spPr>
        <p:txBody>
          <a:bodyPr/>
          <a:lstStyle/>
          <a:p>
            <a:endParaRPr lang="en-GB"/>
          </a:p>
        </p:txBody>
      </p:sp>
      <p:sp>
        <p:nvSpPr>
          <p:cNvPr id="8" name="Straight Connector 7">
            <a:extLst>
              <a:ext uri="{FF2B5EF4-FFF2-40B4-BE49-F238E27FC236}">
                <a16:creationId xmlns:a16="http://schemas.microsoft.com/office/drawing/2014/main" id="{B0E0EA9F-DE83-4282-B754-BD1AD5A79245}"/>
              </a:ext>
            </a:extLst>
          </p:cNvPr>
          <p:cNvSpPr>
            <a:spLocks noGrp="1"/>
          </p:cNvSpPr>
          <p:nvPr/>
        </p:nvSpPr>
        <p:spPr>
          <a:xfrm>
            <a:off x="647700" y="6238875"/>
            <a:ext cx="10896600" cy="0"/>
          </a:xfrm>
          <a:prstGeom prst="line">
            <a:avLst/>
          </a:prstGeom>
          <a:noFill/>
          <a:ln w="9525">
            <a:solidFill>
              <a:srgbClr val="D7E1E9"/>
            </a:solidFill>
          </a:ln>
        </p:spPr>
        <p:txBody>
          <a:bodyPr/>
          <a:lstStyle/>
          <a:p>
            <a:endParaRPr lang="en-GB" sz="2000"/>
          </a:p>
        </p:txBody>
      </p:sp>
      <p:sp>
        <p:nvSpPr>
          <p:cNvPr id="9" name="[Short paper title]">
            <a:extLst>
              <a:ext uri="{FF2B5EF4-FFF2-40B4-BE49-F238E27FC236}">
                <a16:creationId xmlns:a16="http://schemas.microsoft.com/office/drawing/2014/main" id="{A85A1C47-732D-442B-9F38-E91A01B8BAA3}"/>
              </a:ext>
            </a:extLst>
          </p:cNvPr>
          <p:cNvSpPr>
            <a:spLocks noGrp="1"/>
          </p:cNvSpPr>
          <p:nvPr/>
        </p:nvSpPr>
        <p:spPr>
          <a:xfrm>
            <a:off x="647700" y="6419850"/>
            <a:ext cx="6429375" cy="438150"/>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r>
              <a:rPr lang="en-US" sz="2000" dirty="0">
                <a:solidFill>
                  <a:srgbClr val="627185"/>
                </a:solidFill>
                <a:latin typeface="Calibri"/>
                <a:ea typeface="Calibri"/>
                <a:cs typeface="Calibri"/>
              </a:rPr>
              <a:t> Semantic Communication for 6G</a:t>
            </a:r>
          </a:p>
        </p:txBody>
      </p:sp>
      <p:sp>
        <p:nvSpPr>
          <p:cNvPr id="10" name="Paper ID: [000]">
            <a:extLst>
              <a:ext uri="{FF2B5EF4-FFF2-40B4-BE49-F238E27FC236}">
                <a16:creationId xmlns:a16="http://schemas.microsoft.com/office/drawing/2014/main" id="{834DE2F1-59C2-4E01-9793-ED68A9B5841C}"/>
              </a:ext>
            </a:extLst>
          </p:cNvPr>
          <p:cNvSpPr>
            <a:spLocks noGrp="1"/>
          </p:cNvSpPr>
          <p:nvPr/>
        </p:nvSpPr>
        <p:spPr>
          <a:xfrm>
            <a:off x="8905875" y="6419850"/>
            <a:ext cx="2000250"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endParaRPr sz="2000" b="0" dirty="0">
              <a:solidFill>
                <a:srgbClr val="627185"/>
              </a:solidFill>
              <a:latin typeface="Calibri"/>
              <a:ea typeface="Calibri"/>
              <a:cs typeface="Calibri"/>
            </a:endParaRPr>
          </a:p>
        </p:txBody>
      </p:sp>
      <p:sp>
        <p:nvSpPr>
          <p:cNvPr id="11" name="10">
            <a:extLst>
              <a:ext uri="{FF2B5EF4-FFF2-40B4-BE49-F238E27FC236}">
                <a16:creationId xmlns:a16="http://schemas.microsoft.com/office/drawing/2014/main" id="{4BD800A9-8BEB-4617-AD59-E1099F2E809B}"/>
              </a:ext>
            </a:extLst>
          </p:cNvPr>
          <p:cNvSpPr>
            <a:spLocks noGrp="1"/>
          </p:cNvSpPr>
          <p:nvPr/>
        </p:nvSpPr>
        <p:spPr>
          <a:xfrm>
            <a:off x="11125200" y="6419850"/>
            <a:ext cx="419100" cy="219075"/>
          </a:xfrm>
          <a:prstGeom prst="rect">
            <a:avLst/>
          </a:prstGeom>
          <a:noFill/>
          <a:ln w="0">
            <a:noFill/>
          </a:ln>
        </p:spPr>
        <p:txBody>
          <a:bodyPr wrap="square" lIns="0" tIns="0" rIns="0" bIns="0" anchor="t">
            <a:noAutofit/>
          </a:bodyPr>
          <a:lstStyle/>
          <a:p>
            <a:pPr>
              <a:defRPr sz="1000" b="1">
                <a:solidFill>
                  <a:srgbClr val="0067A6"/>
                </a:solidFill>
                <a:latin typeface="Calibri"/>
                <a:ea typeface="Calibri"/>
                <a:cs typeface="Calibri"/>
              </a:defRPr>
            </a:pPr>
            <a:r>
              <a:rPr sz="2000" b="1">
                <a:solidFill>
                  <a:srgbClr val="0067A6"/>
                </a:solidFill>
                <a:latin typeface="Calibri"/>
                <a:ea typeface="Calibri"/>
                <a:cs typeface="Calibri"/>
              </a:rPr>
              <a:t>09</a:t>
            </a:r>
          </a:p>
        </p:txBody>
      </p:sp>
      <p:sp>
        <p:nvSpPr>
          <p:cNvPr id="12" name="[The main conclusion supported by your results]">
            <a:extLst>
              <a:ext uri="{FF2B5EF4-FFF2-40B4-BE49-F238E27FC236}">
                <a16:creationId xmlns:a16="http://schemas.microsoft.com/office/drawing/2014/main" id="{15B62364-A303-49DD-924B-38721369B85C}"/>
              </a:ext>
            </a:extLst>
          </p:cNvPr>
          <p:cNvSpPr>
            <a:spLocks noGrp="1"/>
          </p:cNvSpPr>
          <p:nvPr/>
        </p:nvSpPr>
        <p:spPr>
          <a:xfrm>
            <a:off x="666750" y="2133600"/>
            <a:ext cx="10572750" cy="971550"/>
          </a:xfrm>
          <a:prstGeom prst="rect">
            <a:avLst/>
          </a:prstGeom>
          <a:noFill/>
          <a:ln w="0">
            <a:noFill/>
          </a:ln>
        </p:spPr>
        <p:txBody>
          <a:bodyPr wrap="square" lIns="0" tIns="0" rIns="0" bIns="0" anchor="t">
            <a:noAutofit/>
          </a:bodyPr>
          <a:lstStyle/>
          <a:p>
            <a:pPr>
              <a:defRPr sz="2350" b="1">
                <a:solidFill>
                  <a:srgbClr val="0067A6"/>
                </a:solidFill>
                <a:latin typeface="Calibri"/>
                <a:ea typeface="Calibri"/>
                <a:cs typeface="Calibri"/>
              </a:defRPr>
            </a:pPr>
            <a:r>
              <a:rPr lang="en-US" sz="2350" b="1" dirty="0">
                <a:solidFill>
                  <a:srgbClr val="0067A6"/>
                </a:solidFill>
                <a:latin typeface="Calibri"/>
              </a:rPr>
              <a:t>Semantic communication can reduce message payload, but reduced payload alone does not guarantee better reliability.</a:t>
            </a:r>
          </a:p>
          <a:p>
            <a:pPr>
              <a:defRPr sz="2350" b="1">
                <a:solidFill>
                  <a:srgbClr val="0067A6"/>
                </a:solidFill>
                <a:latin typeface="Calibri"/>
                <a:ea typeface="Calibri"/>
                <a:cs typeface="Calibri"/>
              </a:defRPr>
            </a:pPr>
            <a:endParaRPr sz="2400" b="1" dirty="0">
              <a:solidFill>
                <a:srgbClr val="0067A6"/>
              </a:solidFill>
              <a:latin typeface="Calibri"/>
              <a:ea typeface="Calibri"/>
              <a:cs typeface="Calibri"/>
            </a:endParaRPr>
          </a:p>
        </p:txBody>
      </p:sp>
      <p:sp>
        <p:nvSpPr>
          <p:cNvPr id="13" name="01">
            <a:extLst>
              <a:ext uri="{FF2B5EF4-FFF2-40B4-BE49-F238E27FC236}">
                <a16:creationId xmlns:a16="http://schemas.microsoft.com/office/drawing/2014/main" id="{ED89E6B3-F936-4F87-9641-23913912514D}"/>
              </a:ext>
            </a:extLst>
          </p:cNvPr>
          <p:cNvSpPr>
            <a:spLocks noGrp="1"/>
          </p:cNvSpPr>
          <p:nvPr/>
        </p:nvSpPr>
        <p:spPr>
          <a:xfrm>
            <a:off x="666750" y="3333750"/>
            <a:ext cx="476250" cy="361950"/>
          </a:xfrm>
          <a:prstGeom prst="rect">
            <a:avLst/>
          </a:prstGeom>
          <a:noFill/>
          <a:ln w="0">
            <a:noFill/>
          </a:ln>
        </p:spPr>
        <p:txBody>
          <a:bodyPr wrap="square" lIns="0" tIns="0" rIns="0" bIns="0" anchor="t">
            <a:noAutofit/>
          </a:bodyPr>
          <a:lstStyle/>
          <a:p>
            <a:pPr>
              <a:defRPr sz="1600" b="1">
                <a:solidFill>
                  <a:srgbClr val="0067A6"/>
                </a:solidFill>
                <a:latin typeface="Calibri"/>
                <a:ea typeface="Calibri"/>
                <a:cs typeface="Calibri"/>
              </a:defRPr>
            </a:pPr>
            <a:r>
              <a:rPr sz="2400" b="1" dirty="0">
                <a:solidFill>
                  <a:srgbClr val="0067A6"/>
                </a:solidFill>
                <a:latin typeface="Calibri"/>
                <a:ea typeface="Calibri"/>
                <a:cs typeface="Calibri"/>
              </a:rPr>
              <a:t>01</a:t>
            </a:r>
          </a:p>
        </p:txBody>
      </p:sp>
      <p:sp>
        <p:nvSpPr>
          <p:cNvPr id="14" name="[Primary contribution]">
            <a:extLst>
              <a:ext uri="{FF2B5EF4-FFF2-40B4-BE49-F238E27FC236}">
                <a16:creationId xmlns:a16="http://schemas.microsoft.com/office/drawing/2014/main" id="{16FC63B3-03B3-4FE2-B73B-519B0A96FE9B}"/>
              </a:ext>
            </a:extLst>
          </p:cNvPr>
          <p:cNvSpPr>
            <a:spLocks noGrp="1"/>
          </p:cNvSpPr>
          <p:nvPr/>
        </p:nvSpPr>
        <p:spPr>
          <a:xfrm>
            <a:off x="1371600" y="3333750"/>
            <a:ext cx="9867900" cy="742950"/>
          </a:xfrm>
          <a:prstGeom prst="rect">
            <a:avLst/>
          </a:prstGeom>
          <a:noFill/>
          <a:ln w="0">
            <a:noFill/>
          </a:ln>
        </p:spPr>
        <p:txBody>
          <a:bodyPr wrap="square" lIns="0" tIns="0" rIns="0" bIns="0" anchor="t">
            <a:noAutofit/>
          </a:bodyPr>
          <a:lstStyle/>
          <a:p>
            <a:pPr>
              <a:defRPr sz="1950" b="0">
                <a:solidFill>
                  <a:srgbClr val="12263D"/>
                </a:solidFill>
                <a:latin typeface="Calibri"/>
                <a:ea typeface="Calibri"/>
                <a:cs typeface="Calibri"/>
              </a:defRPr>
            </a:pPr>
            <a:r>
              <a:rPr lang="en-US" sz="2400" dirty="0">
                <a:solidFill>
                  <a:srgbClr val="12263D"/>
                </a:solidFill>
                <a:latin typeface="Calibri"/>
              </a:rPr>
              <a:t> A reproducible Python simulation compares conventional and keyword-based semantic message transmission under five packet-loss conditions.</a:t>
            </a:r>
          </a:p>
          <a:p>
            <a:pPr>
              <a:defRPr sz="1950" b="0">
                <a:solidFill>
                  <a:srgbClr val="12263D"/>
                </a:solidFill>
                <a:latin typeface="Calibri"/>
                <a:ea typeface="Calibri"/>
                <a:cs typeface="Calibri"/>
              </a:defRPr>
            </a:pPr>
            <a:endParaRPr sz="2400" b="0" dirty="0">
              <a:solidFill>
                <a:srgbClr val="12263D"/>
              </a:solidFill>
              <a:latin typeface="Calibri"/>
              <a:ea typeface="Calibri"/>
              <a:cs typeface="Calibri"/>
            </a:endParaRPr>
          </a:p>
        </p:txBody>
      </p:sp>
      <p:sp>
        <p:nvSpPr>
          <p:cNvPr id="15" name="02">
            <a:extLst>
              <a:ext uri="{FF2B5EF4-FFF2-40B4-BE49-F238E27FC236}">
                <a16:creationId xmlns:a16="http://schemas.microsoft.com/office/drawing/2014/main" id="{E41CDE10-BF6E-4B37-A80C-A5107B52EC50}"/>
              </a:ext>
            </a:extLst>
          </p:cNvPr>
          <p:cNvSpPr>
            <a:spLocks noGrp="1"/>
          </p:cNvSpPr>
          <p:nvPr/>
        </p:nvSpPr>
        <p:spPr>
          <a:xfrm>
            <a:off x="666750" y="4248150"/>
            <a:ext cx="476250" cy="361950"/>
          </a:xfrm>
          <a:prstGeom prst="rect">
            <a:avLst/>
          </a:prstGeom>
          <a:noFill/>
          <a:ln w="0">
            <a:noFill/>
          </a:ln>
        </p:spPr>
        <p:txBody>
          <a:bodyPr wrap="square" lIns="0" tIns="0" rIns="0" bIns="0" anchor="t">
            <a:noAutofit/>
          </a:bodyPr>
          <a:lstStyle/>
          <a:p>
            <a:pPr>
              <a:defRPr sz="1600" b="1">
                <a:solidFill>
                  <a:srgbClr val="0067A6"/>
                </a:solidFill>
                <a:latin typeface="Calibri"/>
                <a:ea typeface="Calibri"/>
                <a:cs typeface="Calibri"/>
              </a:defRPr>
            </a:pPr>
            <a:r>
              <a:rPr sz="2400" b="1">
                <a:solidFill>
                  <a:srgbClr val="0067A6"/>
                </a:solidFill>
                <a:latin typeface="Calibri"/>
                <a:ea typeface="Calibri"/>
                <a:cs typeface="Calibri"/>
              </a:rPr>
              <a:t>02</a:t>
            </a:r>
          </a:p>
        </p:txBody>
      </p:sp>
      <p:sp>
        <p:nvSpPr>
          <p:cNvPr id="16" name="[Important limitation or scope boundary]">
            <a:extLst>
              <a:ext uri="{FF2B5EF4-FFF2-40B4-BE49-F238E27FC236}">
                <a16:creationId xmlns:a16="http://schemas.microsoft.com/office/drawing/2014/main" id="{9AE013EA-DD61-4348-87BF-B8DE01CF2647}"/>
              </a:ext>
            </a:extLst>
          </p:cNvPr>
          <p:cNvSpPr>
            <a:spLocks noGrp="1"/>
          </p:cNvSpPr>
          <p:nvPr/>
        </p:nvSpPr>
        <p:spPr>
          <a:xfrm>
            <a:off x="1371600" y="4086225"/>
            <a:ext cx="9867900" cy="742950"/>
          </a:xfrm>
          <a:prstGeom prst="rect">
            <a:avLst/>
          </a:prstGeom>
          <a:noFill/>
          <a:ln w="0">
            <a:noFill/>
          </a:ln>
        </p:spPr>
        <p:txBody>
          <a:bodyPr wrap="square" lIns="0" tIns="0" rIns="0" bIns="0" anchor="t">
            <a:noAutofit/>
          </a:bodyPr>
          <a:lstStyle/>
          <a:p>
            <a:pPr>
              <a:defRPr sz="1950" b="0">
                <a:solidFill>
                  <a:srgbClr val="12263D"/>
                </a:solidFill>
                <a:latin typeface="Calibri"/>
                <a:ea typeface="Calibri"/>
                <a:cs typeface="Calibri"/>
              </a:defRPr>
            </a:pPr>
            <a:r>
              <a:rPr lang="en-US" sz="4000" b="0" dirty="0">
                <a:solidFill>
                  <a:srgbClr val="12263D"/>
                </a:solidFill>
                <a:latin typeface="Calibri"/>
                <a:ea typeface="Calibri"/>
                <a:cs typeface="Calibri"/>
              </a:rPr>
              <a:t> </a:t>
            </a:r>
            <a:r>
              <a:rPr lang="en-US" sz="2400" dirty="0">
                <a:solidFill>
                  <a:srgbClr val="12263D"/>
                </a:solidFill>
                <a:latin typeface="Calibri"/>
              </a:rPr>
              <a:t>Uses one message and manual keywords; excludes coding, retransmission, overhead, and real 6G channels.</a:t>
            </a:r>
            <a:endParaRPr sz="4000" b="0" dirty="0">
              <a:solidFill>
                <a:srgbClr val="12263D"/>
              </a:solidFill>
              <a:latin typeface="Calibri"/>
              <a:ea typeface="Calibri"/>
              <a:cs typeface="Calibri"/>
            </a:endParaRPr>
          </a:p>
        </p:txBody>
      </p:sp>
      <p:sp>
        <p:nvSpPr>
          <p:cNvPr id="17" name="03">
            <a:extLst>
              <a:ext uri="{FF2B5EF4-FFF2-40B4-BE49-F238E27FC236}">
                <a16:creationId xmlns:a16="http://schemas.microsoft.com/office/drawing/2014/main" id="{5755F2FD-82EC-49A6-8A91-31FC34D9E34A}"/>
              </a:ext>
            </a:extLst>
          </p:cNvPr>
          <p:cNvSpPr>
            <a:spLocks noGrp="1"/>
          </p:cNvSpPr>
          <p:nvPr/>
        </p:nvSpPr>
        <p:spPr>
          <a:xfrm>
            <a:off x="666750" y="5162550"/>
            <a:ext cx="476250" cy="361950"/>
          </a:xfrm>
          <a:prstGeom prst="rect">
            <a:avLst/>
          </a:prstGeom>
          <a:noFill/>
          <a:ln w="0">
            <a:noFill/>
          </a:ln>
        </p:spPr>
        <p:txBody>
          <a:bodyPr wrap="square" lIns="0" tIns="0" rIns="0" bIns="0" anchor="t">
            <a:noAutofit/>
          </a:bodyPr>
          <a:lstStyle/>
          <a:p>
            <a:pPr>
              <a:defRPr sz="1600" b="1">
                <a:solidFill>
                  <a:srgbClr val="0067A6"/>
                </a:solidFill>
                <a:latin typeface="Calibri"/>
                <a:ea typeface="Calibri"/>
                <a:cs typeface="Calibri"/>
              </a:defRPr>
            </a:pPr>
            <a:r>
              <a:rPr sz="2400" b="1">
                <a:solidFill>
                  <a:srgbClr val="0067A6"/>
                </a:solidFill>
                <a:latin typeface="Calibri"/>
                <a:ea typeface="Calibri"/>
                <a:cs typeface="Calibri"/>
              </a:rPr>
              <a:t>03</a:t>
            </a:r>
          </a:p>
        </p:txBody>
      </p:sp>
      <p:sp>
        <p:nvSpPr>
          <p:cNvPr id="18" name="[Next research step]">
            <a:extLst>
              <a:ext uri="{FF2B5EF4-FFF2-40B4-BE49-F238E27FC236}">
                <a16:creationId xmlns:a16="http://schemas.microsoft.com/office/drawing/2014/main" id="{56481D09-538C-4B83-816C-D78D251E62FD}"/>
              </a:ext>
            </a:extLst>
          </p:cNvPr>
          <p:cNvSpPr>
            <a:spLocks noGrp="1"/>
          </p:cNvSpPr>
          <p:nvPr/>
        </p:nvSpPr>
        <p:spPr>
          <a:xfrm>
            <a:off x="1371600" y="5162550"/>
            <a:ext cx="9867900" cy="742950"/>
          </a:xfrm>
          <a:prstGeom prst="rect">
            <a:avLst/>
          </a:prstGeom>
          <a:noFill/>
          <a:ln w="0">
            <a:noFill/>
          </a:ln>
        </p:spPr>
        <p:txBody>
          <a:bodyPr wrap="square" lIns="0" tIns="0" rIns="0" bIns="0" anchor="t">
            <a:noAutofit/>
          </a:bodyPr>
          <a:lstStyle/>
          <a:p>
            <a:pPr>
              <a:defRPr sz="1950" b="0">
                <a:solidFill>
                  <a:srgbClr val="12263D"/>
                </a:solidFill>
                <a:latin typeface="Calibri"/>
                <a:ea typeface="Calibri"/>
                <a:cs typeface="Calibri"/>
              </a:defRPr>
            </a:pPr>
            <a:r>
              <a:rPr lang="en-US" sz="2400" dirty="0">
                <a:solidFill>
                  <a:srgbClr val="12263D"/>
                </a:solidFill>
                <a:latin typeface="Calibri"/>
              </a:rPr>
              <a:t>Evaluate matched packetization, priority-based protection, error correction, diverse messages, and realistic wireless channels.</a:t>
            </a:r>
            <a:endParaRPr sz="4000" b="0" dirty="0">
              <a:solidFill>
                <a:srgbClr val="12263D"/>
              </a:solidFill>
              <a:latin typeface="Calibri"/>
              <a:ea typeface="Calibri"/>
              <a:cs typeface="Calibri"/>
            </a:endParaRPr>
          </a:p>
        </p:txBody>
      </p:sp>
      <p:pic>
        <p:nvPicPr>
          <p:cNvPr id="2" name="Audio 1">
            <a:hlinkClick r:id="" action="ppaction://media"/>
            <a:extLst>
              <a:ext uri="{FF2B5EF4-FFF2-40B4-BE49-F238E27FC236}">
                <a16:creationId xmlns:a16="http://schemas.microsoft.com/office/drawing/2014/main" id="{5F6CEA18-1976-90EF-C6DD-F3AE26B81208}"/>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325000" t="-160938" r="-325000" b="-160938"/>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2223144102"/>
      </p:ext>
    </p:extLst>
  </p:cSld>
  <p:clrMapOvr>
    <a:masterClrMapping/>
  </p:clrMapOvr>
  <mc:AlternateContent xmlns:mc="http://schemas.openxmlformats.org/markup-compatibility/2006">
    <mc:Choice xmlns:p14="http://schemas.microsoft.com/office/powerpoint/2010/main" Requires="p14">
      <p:transition spd="slow" p14:dur="2000" advTm="38187"/>
    </mc:Choice>
    <mc:Fallback>
      <p:transition spd="slow" advTm="3818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elected references">
            <a:extLst>
              <a:ext uri="{FF2B5EF4-FFF2-40B4-BE49-F238E27FC236}">
                <a16:creationId xmlns:a16="http://schemas.microsoft.com/office/drawing/2014/main" id="{4836F279-2213-4742-AE3E-1CFD98E662B7}"/>
              </a:ext>
            </a:extLst>
          </p:cNvPr>
          <p:cNvSpPr>
            <a:spLocks noGrp="1"/>
          </p:cNvSpPr>
          <p:nvPr/>
        </p:nvSpPr>
        <p:spPr>
          <a:xfrm>
            <a:off x="647700" y="1181100"/>
            <a:ext cx="10810875" cy="628650"/>
          </a:xfrm>
          <a:prstGeom prst="rect">
            <a:avLst/>
          </a:prstGeom>
          <a:noFill/>
          <a:ln w="0">
            <a:noFill/>
          </a:ln>
        </p:spPr>
        <p:txBody>
          <a:bodyPr wrap="square" lIns="0" tIns="0" rIns="0" bIns="0" anchor="t">
            <a:noAutofit/>
          </a:bodyPr>
          <a:lstStyle/>
          <a:p>
            <a:pPr>
              <a:defRPr sz="2900" b="1">
                <a:solidFill>
                  <a:srgbClr val="12263D"/>
                </a:solidFill>
                <a:latin typeface="Calibri"/>
                <a:ea typeface="Calibri"/>
                <a:cs typeface="Calibri"/>
              </a:defRPr>
            </a:pPr>
            <a:r>
              <a:rPr sz="3600" b="1" dirty="0">
                <a:solidFill>
                  <a:srgbClr val="12263D"/>
                </a:solidFill>
                <a:latin typeface="Calibri"/>
                <a:ea typeface="Calibri"/>
                <a:cs typeface="Calibri"/>
              </a:rPr>
              <a:t>Selected </a:t>
            </a:r>
            <a:r>
              <a:rPr lang="en-US" sz="3600" b="1" dirty="0">
                <a:solidFill>
                  <a:srgbClr val="12263D"/>
                </a:solidFill>
                <a:latin typeface="Calibri"/>
                <a:ea typeface="Calibri"/>
                <a:cs typeface="Calibri"/>
              </a:rPr>
              <a:t>R</a:t>
            </a:r>
            <a:r>
              <a:rPr sz="3600" b="1" dirty="0">
                <a:solidFill>
                  <a:srgbClr val="12263D"/>
                </a:solidFill>
                <a:latin typeface="Calibri"/>
                <a:ea typeface="Calibri"/>
                <a:cs typeface="Calibri"/>
              </a:rPr>
              <a:t>eferences</a:t>
            </a:r>
          </a:p>
        </p:txBody>
      </p:sp>
      <p:sp>
        <p:nvSpPr>
          <p:cNvPr id="7" name="Straight Connector 6">
            <a:extLst>
              <a:ext uri="{FF2B5EF4-FFF2-40B4-BE49-F238E27FC236}">
                <a16:creationId xmlns:a16="http://schemas.microsoft.com/office/drawing/2014/main" id="{8BF398B2-FC6D-4A2B-9971-9B5D85B1A2CC}"/>
              </a:ext>
            </a:extLst>
          </p:cNvPr>
          <p:cNvSpPr>
            <a:spLocks noGrp="1"/>
          </p:cNvSpPr>
          <p:nvPr/>
        </p:nvSpPr>
        <p:spPr>
          <a:xfrm>
            <a:off x="647700" y="1933575"/>
            <a:ext cx="10896600" cy="0"/>
          </a:xfrm>
          <a:prstGeom prst="line">
            <a:avLst/>
          </a:prstGeom>
          <a:noFill/>
          <a:ln w="9525">
            <a:solidFill>
              <a:srgbClr val="D7E1E9"/>
            </a:solidFill>
          </a:ln>
        </p:spPr>
        <p:txBody>
          <a:bodyPr/>
          <a:lstStyle/>
          <a:p>
            <a:endParaRPr lang="en-GB"/>
          </a:p>
        </p:txBody>
      </p:sp>
      <p:sp>
        <p:nvSpPr>
          <p:cNvPr id="8" name="Straight Connector 7">
            <a:extLst>
              <a:ext uri="{FF2B5EF4-FFF2-40B4-BE49-F238E27FC236}">
                <a16:creationId xmlns:a16="http://schemas.microsoft.com/office/drawing/2014/main" id="{E4B8024E-9A67-4588-A402-512F49598C8B}"/>
              </a:ext>
            </a:extLst>
          </p:cNvPr>
          <p:cNvSpPr>
            <a:spLocks noGrp="1"/>
          </p:cNvSpPr>
          <p:nvPr/>
        </p:nvSpPr>
        <p:spPr>
          <a:xfrm>
            <a:off x="647700" y="6130018"/>
            <a:ext cx="10896600" cy="0"/>
          </a:xfrm>
          <a:prstGeom prst="line">
            <a:avLst/>
          </a:prstGeom>
          <a:noFill/>
          <a:ln w="9525">
            <a:solidFill>
              <a:srgbClr val="D7E1E9"/>
            </a:solidFill>
          </a:ln>
        </p:spPr>
        <p:txBody>
          <a:bodyPr/>
          <a:lstStyle/>
          <a:p>
            <a:endParaRPr lang="en-GB" sz="2000"/>
          </a:p>
        </p:txBody>
      </p:sp>
      <p:sp>
        <p:nvSpPr>
          <p:cNvPr id="9" name="[Short paper title]">
            <a:extLst>
              <a:ext uri="{FF2B5EF4-FFF2-40B4-BE49-F238E27FC236}">
                <a16:creationId xmlns:a16="http://schemas.microsoft.com/office/drawing/2014/main" id="{C9405947-7817-4F64-B16C-9591EB5FC09E}"/>
              </a:ext>
            </a:extLst>
          </p:cNvPr>
          <p:cNvSpPr>
            <a:spLocks noGrp="1"/>
          </p:cNvSpPr>
          <p:nvPr/>
        </p:nvSpPr>
        <p:spPr>
          <a:xfrm>
            <a:off x="647700" y="6419850"/>
            <a:ext cx="6429375" cy="353783"/>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endParaRPr lang="en-US" sz="2000" dirty="0">
              <a:solidFill>
                <a:srgbClr val="627185"/>
              </a:solidFill>
              <a:latin typeface="Calibri"/>
              <a:ea typeface="Calibri"/>
              <a:cs typeface="Calibri"/>
            </a:endParaRPr>
          </a:p>
        </p:txBody>
      </p:sp>
      <p:sp>
        <p:nvSpPr>
          <p:cNvPr id="10" name="Paper ID: [000]">
            <a:extLst>
              <a:ext uri="{FF2B5EF4-FFF2-40B4-BE49-F238E27FC236}">
                <a16:creationId xmlns:a16="http://schemas.microsoft.com/office/drawing/2014/main" id="{EF2DAFC3-16D9-4D9D-9F72-1FC0E876ECF9}"/>
              </a:ext>
            </a:extLst>
          </p:cNvPr>
          <p:cNvSpPr>
            <a:spLocks noGrp="1"/>
          </p:cNvSpPr>
          <p:nvPr/>
        </p:nvSpPr>
        <p:spPr>
          <a:xfrm>
            <a:off x="8905875" y="6419850"/>
            <a:ext cx="2000250"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endParaRPr sz="2000" b="0" dirty="0">
              <a:solidFill>
                <a:srgbClr val="627185"/>
              </a:solidFill>
              <a:latin typeface="Calibri"/>
              <a:ea typeface="Calibri"/>
              <a:cs typeface="Calibri"/>
            </a:endParaRPr>
          </a:p>
        </p:txBody>
      </p:sp>
      <p:sp>
        <p:nvSpPr>
          <p:cNvPr id="11" name="11">
            <a:extLst>
              <a:ext uri="{FF2B5EF4-FFF2-40B4-BE49-F238E27FC236}">
                <a16:creationId xmlns:a16="http://schemas.microsoft.com/office/drawing/2014/main" id="{FF32B62C-0D32-42CB-B523-68D37519BF4F}"/>
              </a:ext>
            </a:extLst>
          </p:cNvPr>
          <p:cNvSpPr>
            <a:spLocks noGrp="1"/>
          </p:cNvSpPr>
          <p:nvPr/>
        </p:nvSpPr>
        <p:spPr>
          <a:xfrm>
            <a:off x="11125200" y="6419850"/>
            <a:ext cx="419100" cy="219075"/>
          </a:xfrm>
          <a:prstGeom prst="rect">
            <a:avLst/>
          </a:prstGeom>
          <a:noFill/>
          <a:ln w="0">
            <a:noFill/>
          </a:ln>
        </p:spPr>
        <p:txBody>
          <a:bodyPr wrap="square" lIns="0" tIns="0" rIns="0" bIns="0" anchor="t">
            <a:noAutofit/>
          </a:bodyPr>
          <a:lstStyle/>
          <a:p>
            <a:pPr>
              <a:defRPr sz="1000" b="1">
                <a:solidFill>
                  <a:srgbClr val="0067A6"/>
                </a:solidFill>
                <a:latin typeface="Calibri"/>
                <a:ea typeface="Calibri"/>
                <a:cs typeface="Calibri"/>
              </a:defRPr>
            </a:pPr>
            <a:r>
              <a:rPr sz="2000" b="1">
                <a:solidFill>
                  <a:srgbClr val="0067A6"/>
                </a:solidFill>
                <a:latin typeface="Calibri"/>
                <a:ea typeface="Calibri"/>
                <a:cs typeface="Calibri"/>
              </a:rPr>
              <a:t>10</a:t>
            </a:r>
          </a:p>
        </p:txBody>
      </p:sp>
      <p:sp>
        <p:nvSpPr>
          <p:cNvPr id="12" name="[1] [Author(s)], “Paper title,” Venue, year.&#10;&#10;[2] [Author(s)], “P">
            <a:extLst>
              <a:ext uri="{FF2B5EF4-FFF2-40B4-BE49-F238E27FC236}">
                <a16:creationId xmlns:a16="http://schemas.microsoft.com/office/drawing/2014/main" id="{AA090AF3-2C17-4C9E-AE06-C3F6D17EFB51}"/>
              </a:ext>
            </a:extLst>
          </p:cNvPr>
          <p:cNvSpPr>
            <a:spLocks noGrp="1"/>
          </p:cNvSpPr>
          <p:nvPr/>
        </p:nvSpPr>
        <p:spPr>
          <a:xfrm>
            <a:off x="666750" y="2200275"/>
            <a:ext cx="10572750" cy="3286125"/>
          </a:xfrm>
          <a:prstGeom prst="rect">
            <a:avLst/>
          </a:prstGeom>
          <a:noFill/>
          <a:ln w="0">
            <a:noFill/>
          </a:ln>
        </p:spPr>
        <p:txBody>
          <a:bodyPr wrap="square" lIns="0" tIns="0" rIns="0" bIns="0" anchor="t">
            <a:noAutofit/>
          </a:bodyPr>
          <a:lstStyle/>
          <a:p>
            <a:r>
              <a:rPr lang="en-US" sz="2000" i="1" dirty="0"/>
              <a:t>[1] M. A. Mohsin, M. Jazib, Z. Alam, M. F. Khan, M. S. Saad, and M. A. Jamshed, “Vision Transformer Based Semantic Communications for Next Generation Wireless Networks,” 2025 IEEE International Conference on Communications Workshops (ICC Workshops), 2025. DOI: 10.1109/ICCWorkshops67674.2025.11162294.</a:t>
            </a:r>
          </a:p>
          <a:p>
            <a:endParaRPr lang="en-US" sz="2000" i="1" dirty="0"/>
          </a:p>
          <a:p>
            <a:r>
              <a:rPr lang="en-US" sz="2000" i="1" dirty="0"/>
              <a:t>[2] F. Wang, Y. Zheng, W. Xu, J. Liang, P. Zhang, and Z. Han, “Explicit Semantic-Base-Empowered Communications for 6G Mobile Networks,” Engineering, vol. 56, pp. 34–44, 2026. DOI: 10.1016/j.eng.2025.08.039.</a:t>
            </a:r>
          </a:p>
          <a:p>
            <a:endParaRPr lang="en-US" sz="2000" i="1" dirty="0"/>
          </a:p>
          <a:p>
            <a:r>
              <a:rPr lang="en-US" sz="2000" i="1" dirty="0"/>
              <a:t>[3] J. Huang, Q. Zeng, H. Du, and K. Huang, “Generative Feature Imputing—A Technique for Error-Resilient Semantic Communication,” IEEE Transactions on Wireless Communications, vol. 25, pp. 18410–18423, 2026. DOI: 10.1109/TWC.2026.3700909.</a:t>
            </a:r>
          </a:p>
        </p:txBody>
      </p:sp>
      <p:sp>
        <p:nvSpPr>
          <p:cNvPr id="3" name="TextBox 2">
            <a:extLst>
              <a:ext uri="{FF2B5EF4-FFF2-40B4-BE49-F238E27FC236}">
                <a16:creationId xmlns:a16="http://schemas.microsoft.com/office/drawing/2014/main" id="{EA4136CD-B4DC-5F03-7A15-1735A249C81A}"/>
              </a:ext>
            </a:extLst>
          </p:cNvPr>
          <p:cNvSpPr txBox="1"/>
          <p:nvPr/>
        </p:nvSpPr>
        <p:spPr>
          <a:xfrm>
            <a:off x="647700" y="6238815"/>
            <a:ext cx="6096000" cy="400110"/>
          </a:xfrm>
          <a:prstGeom prst="rect">
            <a:avLst/>
          </a:prstGeom>
          <a:noFill/>
        </p:spPr>
        <p:txBody>
          <a:bodyPr wrap="square">
            <a:spAutoFit/>
          </a:bodyPr>
          <a:lstStyle/>
          <a:p>
            <a:pPr>
              <a:defRPr sz="1000" b="0">
                <a:solidFill>
                  <a:srgbClr val="627185"/>
                </a:solidFill>
                <a:latin typeface="Calibri"/>
                <a:ea typeface="Calibri"/>
                <a:cs typeface="Calibri"/>
              </a:defRPr>
            </a:pPr>
            <a:r>
              <a:rPr lang="en-US" sz="2000" b="0" dirty="0">
                <a:solidFill>
                  <a:srgbClr val="627185"/>
                </a:solidFill>
                <a:latin typeface="Calibri"/>
                <a:ea typeface="Calibri"/>
                <a:cs typeface="Calibri"/>
              </a:rPr>
              <a:t> Semantic Communication for 6G</a:t>
            </a:r>
          </a:p>
        </p:txBody>
      </p:sp>
      <p:pic>
        <p:nvPicPr>
          <p:cNvPr id="4" name="Audio 3">
            <a:hlinkClick r:id="" action="ppaction://media"/>
            <a:extLst>
              <a:ext uri="{FF2B5EF4-FFF2-40B4-BE49-F238E27FC236}">
                <a16:creationId xmlns:a16="http://schemas.microsoft.com/office/drawing/2014/main" id="{63B594B3-B4E6-9125-C99C-9D2223847482}"/>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325000" t="-160938" r="-325000" b="-160938"/>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2742884563"/>
      </p:ext>
    </p:extLst>
  </p:cSld>
  <p:clrMapOvr>
    <a:masterClrMapping/>
  </p:clrMapOvr>
  <mc:AlternateContent xmlns:mc="http://schemas.openxmlformats.org/markup-compatibility/2006">
    <mc:Choice xmlns:p14="http://schemas.microsoft.com/office/powerpoint/2010/main" Requires="p14">
      <p:transition spd="slow" p14:dur="2000" advTm="5876"/>
    </mc:Choice>
    <mc:Fallback>
      <p:transition spd="slow" advTm="58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hank you">
            <a:extLst>
              <a:ext uri="{FF2B5EF4-FFF2-40B4-BE49-F238E27FC236}">
                <a16:creationId xmlns:a16="http://schemas.microsoft.com/office/drawing/2014/main" id="{08330104-10CC-43F9-905C-0CA241AC18D0}"/>
              </a:ext>
            </a:extLst>
          </p:cNvPr>
          <p:cNvSpPr>
            <a:spLocks noGrp="1"/>
          </p:cNvSpPr>
          <p:nvPr/>
        </p:nvSpPr>
        <p:spPr>
          <a:xfrm>
            <a:off x="647700" y="1181100"/>
            <a:ext cx="10810875" cy="628650"/>
          </a:xfrm>
          <a:prstGeom prst="rect">
            <a:avLst/>
          </a:prstGeom>
          <a:noFill/>
          <a:ln w="0">
            <a:noFill/>
          </a:ln>
        </p:spPr>
        <p:txBody>
          <a:bodyPr wrap="square" lIns="0" tIns="0" rIns="0" bIns="0" anchor="t">
            <a:noAutofit/>
          </a:bodyPr>
          <a:lstStyle/>
          <a:p>
            <a:pPr>
              <a:defRPr sz="2900" b="1">
                <a:solidFill>
                  <a:srgbClr val="12263D"/>
                </a:solidFill>
                <a:latin typeface="Calibri"/>
                <a:ea typeface="Calibri"/>
                <a:cs typeface="Calibri"/>
              </a:defRPr>
            </a:pPr>
            <a:r>
              <a:rPr sz="3600" b="1" dirty="0">
                <a:solidFill>
                  <a:srgbClr val="12263D"/>
                </a:solidFill>
                <a:latin typeface="Calibri"/>
                <a:ea typeface="Calibri"/>
                <a:cs typeface="Calibri"/>
              </a:rPr>
              <a:t>Thank you</a:t>
            </a:r>
          </a:p>
        </p:txBody>
      </p:sp>
      <p:sp>
        <p:nvSpPr>
          <p:cNvPr id="7" name="Straight Connector 6">
            <a:extLst>
              <a:ext uri="{FF2B5EF4-FFF2-40B4-BE49-F238E27FC236}">
                <a16:creationId xmlns:a16="http://schemas.microsoft.com/office/drawing/2014/main" id="{F8D3E64B-3C0A-4AC0-BCD5-EEE37A4691C8}"/>
              </a:ext>
            </a:extLst>
          </p:cNvPr>
          <p:cNvSpPr>
            <a:spLocks noGrp="1"/>
          </p:cNvSpPr>
          <p:nvPr/>
        </p:nvSpPr>
        <p:spPr>
          <a:xfrm>
            <a:off x="647700" y="1933575"/>
            <a:ext cx="10896600" cy="0"/>
          </a:xfrm>
          <a:prstGeom prst="line">
            <a:avLst/>
          </a:prstGeom>
          <a:noFill/>
          <a:ln w="9525">
            <a:solidFill>
              <a:srgbClr val="D7E1E9"/>
            </a:solidFill>
          </a:ln>
        </p:spPr>
        <p:txBody>
          <a:bodyPr/>
          <a:lstStyle/>
          <a:p>
            <a:endParaRPr lang="en-GB"/>
          </a:p>
        </p:txBody>
      </p:sp>
      <p:sp>
        <p:nvSpPr>
          <p:cNvPr id="8" name="Straight Connector 7">
            <a:extLst>
              <a:ext uri="{FF2B5EF4-FFF2-40B4-BE49-F238E27FC236}">
                <a16:creationId xmlns:a16="http://schemas.microsoft.com/office/drawing/2014/main" id="{A40AD5F5-0A1F-419A-A412-666A20575721}"/>
              </a:ext>
            </a:extLst>
          </p:cNvPr>
          <p:cNvSpPr>
            <a:spLocks noGrp="1"/>
          </p:cNvSpPr>
          <p:nvPr/>
        </p:nvSpPr>
        <p:spPr>
          <a:xfrm>
            <a:off x="647700" y="6238875"/>
            <a:ext cx="10896600" cy="0"/>
          </a:xfrm>
          <a:prstGeom prst="line">
            <a:avLst/>
          </a:prstGeom>
          <a:noFill/>
          <a:ln w="9525">
            <a:solidFill>
              <a:srgbClr val="D7E1E9"/>
            </a:solidFill>
          </a:ln>
        </p:spPr>
        <p:txBody>
          <a:bodyPr/>
          <a:lstStyle/>
          <a:p>
            <a:endParaRPr lang="en-GB" sz="2000"/>
          </a:p>
        </p:txBody>
      </p:sp>
      <p:sp>
        <p:nvSpPr>
          <p:cNvPr id="9" name="[Short paper title]">
            <a:extLst>
              <a:ext uri="{FF2B5EF4-FFF2-40B4-BE49-F238E27FC236}">
                <a16:creationId xmlns:a16="http://schemas.microsoft.com/office/drawing/2014/main" id="{F99CB262-3B67-4B75-A698-AE379A335230}"/>
              </a:ext>
            </a:extLst>
          </p:cNvPr>
          <p:cNvSpPr>
            <a:spLocks noGrp="1"/>
          </p:cNvSpPr>
          <p:nvPr/>
        </p:nvSpPr>
        <p:spPr>
          <a:xfrm>
            <a:off x="647700" y="6419849"/>
            <a:ext cx="6429375" cy="351059"/>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r>
              <a:rPr lang="en-US" sz="2000" b="0" dirty="0">
                <a:solidFill>
                  <a:srgbClr val="627185"/>
                </a:solidFill>
                <a:latin typeface="Calibri"/>
                <a:ea typeface="Calibri"/>
                <a:cs typeface="Calibri"/>
              </a:rPr>
              <a:t> Semantic Communication for 6G</a:t>
            </a:r>
          </a:p>
        </p:txBody>
      </p:sp>
      <p:sp>
        <p:nvSpPr>
          <p:cNvPr id="11" name="12">
            <a:extLst>
              <a:ext uri="{FF2B5EF4-FFF2-40B4-BE49-F238E27FC236}">
                <a16:creationId xmlns:a16="http://schemas.microsoft.com/office/drawing/2014/main" id="{6F6B6A6D-0165-4B98-957F-48A48241ACC6}"/>
              </a:ext>
            </a:extLst>
          </p:cNvPr>
          <p:cNvSpPr>
            <a:spLocks noGrp="1"/>
          </p:cNvSpPr>
          <p:nvPr/>
        </p:nvSpPr>
        <p:spPr>
          <a:xfrm>
            <a:off x="11125200" y="6419850"/>
            <a:ext cx="419100" cy="219075"/>
          </a:xfrm>
          <a:prstGeom prst="rect">
            <a:avLst/>
          </a:prstGeom>
          <a:noFill/>
          <a:ln w="0">
            <a:noFill/>
          </a:ln>
        </p:spPr>
        <p:txBody>
          <a:bodyPr wrap="square" lIns="0" tIns="0" rIns="0" bIns="0" anchor="t">
            <a:noAutofit/>
          </a:bodyPr>
          <a:lstStyle/>
          <a:p>
            <a:pPr>
              <a:defRPr sz="1000" b="1">
                <a:solidFill>
                  <a:srgbClr val="0067A6"/>
                </a:solidFill>
                <a:latin typeface="Calibri"/>
                <a:ea typeface="Calibri"/>
                <a:cs typeface="Calibri"/>
              </a:defRPr>
            </a:pPr>
            <a:r>
              <a:rPr sz="2000" b="1">
                <a:solidFill>
                  <a:srgbClr val="0067A6"/>
                </a:solidFill>
                <a:latin typeface="Calibri"/>
                <a:ea typeface="Calibri"/>
                <a:cs typeface="Calibri"/>
              </a:rPr>
              <a:t>11</a:t>
            </a:r>
          </a:p>
        </p:txBody>
      </p:sp>
      <p:sp>
        <p:nvSpPr>
          <p:cNvPr id="12" name="Questions and discussion">
            <a:extLst>
              <a:ext uri="{FF2B5EF4-FFF2-40B4-BE49-F238E27FC236}">
                <a16:creationId xmlns:a16="http://schemas.microsoft.com/office/drawing/2014/main" id="{0173E31E-DFC8-49D6-B6A5-A2E8BDABE0C7}"/>
              </a:ext>
            </a:extLst>
          </p:cNvPr>
          <p:cNvSpPr>
            <a:spLocks noGrp="1"/>
          </p:cNvSpPr>
          <p:nvPr/>
        </p:nvSpPr>
        <p:spPr>
          <a:xfrm>
            <a:off x="666750" y="2466975"/>
            <a:ext cx="10477500" cy="857250"/>
          </a:xfrm>
          <a:prstGeom prst="rect">
            <a:avLst/>
          </a:prstGeom>
          <a:noFill/>
          <a:ln w="0">
            <a:noFill/>
          </a:ln>
        </p:spPr>
        <p:txBody>
          <a:bodyPr wrap="square" lIns="0" tIns="0" rIns="0" bIns="0" anchor="t">
            <a:noAutofit/>
          </a:bodyPr>
          <a:lstStyle/>
          <a:p>
            <a:pPr>
              <a:defRPr sz="3300" b="1">
                <a:solidFill>
                  <a:srgbClr val="12263D"/>
                </a:solidFill>
                <a:latin typeface="Calibri"/>
                <a:ea typeface="Calibri"/>
                <a:cs typeface="Calibri"/>
              </a:defRPr>
            </a:pPr>
            <a:r>
              <a:rPr sz="3600" b="1" dirty="0">
                <a:solidFill>
                  <a:srgbClr val="12263D"/>
                </a:solidFill>
                <a:latin typeface="Calibri"/>
                <a:ea typeface="Calibri"/>
                <a:cs typeface="Calibri"/>
              </a:rPr>
              <a:t>Questions and </a:t>
            </a:r>
            <a:r>
              <a:rPr lang="en-US" sz="3600" b="1" dirty="0">
                <a:solidFill>
                  <a:srgbClr val="12263D"/>
                </a:solidFill>
                <a:latin typeface="Calibri"/>
                <a:ea typeface="Calibri"/>
                <a:cs typeface="Calibri"/>
              </a:rPr>
              <a:t>D</a:t>
            </a:r>
            <a:r>
              <a:rPr sz="3600" b="1" dirty="0">
                <a:solidFill>
                  <a:srgbClr val="12263D"/>
                </a:solidFill>
                <a:latin typeface="Calibri"/>
                <a:ea typeface="Calibri"/>
                <a:cs typeface="Calibri"/>
              </a:rPr>
              <a:t>iscussion</a:t>
            </a:r>
          </a:p>
        </p:txBody>
      </p:sp>
      <p:sp>
        <p:nvSpPr>
          <p:cNvPr id="13" name="[Presenter name]&#10;[Institution]">
            <a:extLst>
              <a:ext uri="{FF2B5EF4-FFF2-40B4-BE49-F238E27FC236}">
                <a16:creationId xmlns:a16="http://schemas.microsoft.com/office/drawing/2014/main" id="{A7470921-4089-472B-8E68-4CEBE372B6E3}"/>
              </a:ext>
            </a:extLst>
          </p:cNvPr>
          <p:cNvSpPr>
            <a:spLocks noGrp="1"/>
          </p:cNvSpPr>
          <p:nvPr/>
        </p:nvSpPr>
        <p:spPr>
          <a:xfrm>
            <a:off x="666750" y="3829050"/>
            <a:ext cx="9048750" cy="933450"/>
          </a:xfrm>
          <a:prstGeom prst="rect">
            <a:avLst/>
          </a:prstGeom>
          <a:noFill/>
          <a:ln w="0">
            <a:noFill/>
          </a:ln>
        </p:spPr>
        <p:txBody>
          <a:bodyPr wrap="square" lIns="0" tIns="0" rIns="0" bIns="0" anchor="t">
            <a:noAutofit/>
          </a:bodyPr>
          <a:lstStyle/>
          <a:p>
            <a:pPr>
              <a:defRPr sz="1950" b="0">
                <a:solidFill>
                  <a:srgbClr val="12263D"/>
                </a:solidFill>
                <a:latin typeface="Calibri"/>
                <a:ea typeface="Calibri"/>
                <a:cs typeface="Calibri"/>
              </a:defRPr>
            </a:pPr>
            <a:r>
              <a:rPr lang="en-US" sz="2400" dirty="0">
                <a:solidFill>
                  <a:srgbClr val="12263D"/>
                </a:solidFill>
                <a:latin typeface="Calibri"/>
                <a:ea typeface="Calibri"/>
                <a:cs typeface="Calibri"/>
              </a:rPr>
              <a:t> Md. </a:t>
            </a:r>
            <a:r>
              <a:rPr lang="en-US" sz="2400" dirty="0" err="1">
                <a:solidFill>
                  <a:srgbClr val="12263D"/>
                </a:solidFill>
                <a:latin typeface="Calibri"/>
                <a:ea typeface="Calibri"/>
                <a:cs typeface="Calibri"/>
              </a:rPr>
              <a:t>Rabbikul</a:t>
            </a:r>
            <a:r>
              <a:rPr lang="en-US" sz="2400" dirty="0">
                <a:solidFill>
                  <a:srgbClr val="12263D"/>
                </a:solidFill>
                <a:latin typeface="Calibri"/>
                <a:ea typeface="Calibri"/>
                <a:cs typeface="Calibri"/>
              </a:rPr>
              <a:t> Islam Ratul</a:t>
            </a:r>
            <a:endParaRPr sz="2400" b="0" dirty="0">
              <a:solidFill>
                <a:srgbClr val="12263D"/>
              </a:solidFill>
              <a:latin typeface="Calibri"/>
              <a:ea typeface="Calibri"/>
              <a:cs typeface="Calibri"/>
            </a:endParaRPr>
          </a:p>
          <a:p>
            <a:pPr>
              <a:defRPr sz="1950" b="0">
                <a:solidFill>
                  <a:srgbClr val="12263D"/>
                </a:solidFill>
                <a:latin typeface="Calibri"/>
                <a:ea typeface="Calibri"/>
                <a:cs typeface="Calibri"/>
              </a:defRPr>
            </a:pPr>
            <a:r>
              <a:rPr lang="en-US" sz="2400" dirty="0">
                <a:solidFill>
                  <a:srgbClr val="12263D"/>
                </a:solidFill>
                <a:latin typeface="Calibri"/>
                <a:ea typeface="Calibri"/>
                <a:cs typeface="Calibri"/>
              </a:rPr>
              <a:t> Mawlana </a:t>
            </a:r>
            <a:r>
              <a:rPr lang="en-US" sz="2400" dirty="0" err="1">
                <a:solidFill>
                  <a:srgbClr val="12263D"/>
                </a:solidFill>
                <a:latin typeface="Calibri"/>
                <a:ea typeface="Calibri"/>
                <a:cs typeface="Calibri"/>
              </a:rPr>
              <a:t>Bhashani</a:t>
            </a:r>
            <a:r>
              <a:rPr lang="en-US" sz="2400" dirty="0">
                <a:solidFill>
                  <a:srgbClr val="12263D"/>
                </a:solidFill>
                <a:latin typeface="Calibri"/>
                <a:ea typeface="Calibri"/>
                <a:cs typeface="Calibri"/>
              </a:rPr>
              <a:t> Science and Technology University</a:t>
            </a:r>
            <a:endParaRPr sz="2400" b="0" dirty="0">
              <a:solidFill>
                <a:srgbClr val="12263D"/>
              </a:solidFill>
              <a:latin typeface="Calibri"/>
              <a:ea typeface="Calibri"/>
              <a:cs typeface="Calibri"/>
            </a:endParaRPr>
          </a:p>
        </p:txBody>
      </p:sp>
      <p:sp>
        <p:nvSpPr>
          <p:cNvPr id="14" name="[Email address]">
            <a:extLst>
              <a:ext uri="{FF2B5EF4-FFF2-40B4-BE49-F238E27FC236}">
                <a16:creationId xmlns:a16="http://schemas.microsoft.com/office/drawing/2014/main" id="{C1E6CD2C-4868-4E7C-943E-8862F4B92936}"/>
              </a:ext>
            </a:extLst>
          </p:cNvPr>
          <p:cNvSpPr>
            <a:spLocks noGrp="1"/>
          </p:cNvSpPr>
          <p:nvPr/>
        </p:nvSpPr>
        <p:spPr>
          <a:xfrm>
            <a:off x="666750" y="5048250"/>
            <a:ext cx="9525000" cy="428625"/>
          </a:xfrm>
          <a:prstGeom prst="rect">
            <a:avLst/>
          </a:prstGeom>
          <a:noFill/>
          <a:ln w="0">
            <a:noFill/>
          </a:ln>
        </p:spPr>
        <p:txBody>
          <a:bodyPr wrap="square" lIns="0" tIns="0" rIns="0" bIns="0" anchor="t">
            <a:noAutofit/>
          </a:bodyPr>
          <a:lstStyle/>
          <a:p>
            <a:pPr>
              <a:defRPr sz="1750" b="0">
                <a:solidFill>
                  <a:srgbClr val="0067A6"/>
                </a:solidFill>
                <a:latin typeface="Calibri"/>
                <a:ea typeface="Calibri"/>
                <a:cs typeface="Calibri"/>
              </a:defRPr>
            </a:pPr>
            <a:r>
              <a:rPr lang="en-US" sz="2400" dirty="0">
                <a:solidFill>
                  <a:srgbClr val="0067A6"/>
                </a:solidFill>
                <a:latin typeface="Calibri"/>
                <a:ea typeface="Calibri"/>
                <a:cs typeface="Calibri"/>
              </a:rPr>
              <a:t> Email Address – </a:t>
            </a:r>
            <a:r>
              <a:rPr lang="en-US" sz="2400" dirty="0">
                <a:solidFill>
                  <a:srgbClr val="0067A6"/>
                </a:solidFill>
                <a:latin typeface="Calibri"/>
                <a:ea typeface="Calibri"/>
                <a:cs typeface="Calibri"/>
                <a:hlinkClick r:id="rId5"/>
              </a:rPr>
              <a:t>it22012@mbstu.ac.bd</a:t>
            </a:r>
            <a:endParaRPr sz="2400" b="0" dirty="0">
              <a:solidFill>
                <a:srgbClr val="0067A6"/>
              </a:solidFill>
              <a:latin typeface="Calibri"/>
              <a:ea typeface="Calibri"/>
              <a:cs typeface="Calibri"/>
            </a:endParaRPr>
          </a:p>
        </p:txBody>
      </p:sp>
      <p:pic>
        <p:nvPicPr>
          <p:cNvPr id="2" name="Audio 1">
            <a:hlinkClick r:id="" action="ppaction://media"/>
            <a:extLst>
              <a:ext uri="{FF2B5EF4-FFF2-40B4-BE49-F238E27FC236}">
                <a16:creationId xmlns:a16="http://schemas.microsoft.com/office/drawing/2014/main" id="{DABE2DDB-7550-1E2F-D466-E00DF106A0B7}"/>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325000" t="-160938" r="-325000" b="-160938"/>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2176089946"/>
      </p:ext>
    </p:extLst>
  </p:cSld>
  <p:clrMapOvr>
    <a:masterClrMapping/>
  </p:clrMapOvr>
  <mc:AlternateContent xmlns:mc="http://schemas.openxmlformats.org/markup-compatibility/2006">
    <mc:Choice xmlns:p14="http://schemas.microsoft.com/office/powerpoint/2010/main" Requires="p14">
      <p:transition spd="slow" p14:dur="2000" advTm="8517"/>
    </mc:Choice>
    <mc:Fallback>
      <p:transition spd="slow" advTm="851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A6DD010-3B72-4FC8-AAF5-76F0709E9778}">
  <we:reference id="WA200010001" version="1.0.0.1" store="Omex" storeType="OMEX"/>
  <we:alternateReferences>
    <we:reference id="WA200010001" version="1.0.0.1" store="WA200010001" storeType="OMEX"/>
  </we:alternateReferences>
  <we:properties>
    <we:property name="claude.fileId" value="&quot;7e5d6a73-9f5e-4bea-a595-d98a5a083ab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TM03457485[[fn=Mesh]]</Template>
  <TotalTime>243</TotalTime>
  <Words>927</Words>
  <Application>Microsoft Office PowerPoint</Application>
  <DocSecurity>0</DocSecurity>
  <PresentationFormat>Widescreen</PresentationFormat>
  <Paragraphs>118</Paragraphs>
  <Slides>11</Slides>
  <Notes>11</Notes>
  <HiddenSlides>0</HiddenSlides>
  <MMClips>11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Atif Rahman</cp:lastModifiedBy>
  <cp:revision>14</cp:revision>
  <dcterms:created xsi:type="dcterms:W3CDTF">2026-10-02T05:06:18Z</dcterms:created>
  <dcterms:modified xsi:type="dcterms:W3CDTF">2026-10-15T17:51:20Z</dcterms:modified>
</cp:coreProperties>
</file>